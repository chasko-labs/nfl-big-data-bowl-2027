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contract: the contest is the frame, the CLI is how we work it. Say plainly: Big Data Bowl equals the NFL's annual analytics contest with AWS; Muse Code equals the agentic CLI on screen; Next Gen Stats equals RFID tracking at 10 frames per second. Then bridge: next slide states what the contest actually asks. Definitions: Big Data Bowl = NFL annual analytics contest (with AWS) - Muse Code = agentic coding CLI - Next Gen Stats = RFID tracking feed, 10 frames/sec. As of Sep 2026; 2027 edition unannounced. Provenance: docs/talk-notes.md premise; repo README: eight editions 2019-2026.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prize in plain terms: a stat you invent here can end up on live TV. Walk the four facts in order: who runs it, what the data is, where winners go, and where we stand now. Pause on the 10-hertz figure and translate it (ten snapshots per second per player). Close with the honest caveat: eight editions 2019-2026 per docs/history.md; 2027 topic unannounced as of Sep 2026 per docs/2027-prediction.md. Transition: next slide shows the scale of the tracking data. Definitions: NFL Football Operations = the league office group that runs the contest; Next Gen Stats = the league's player-tracking data system; hertz = measurements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money and the stage: $100k and a live Combine final. Then the funnel: 8,329 registrations down to hired analysts. Caveat the single-sourced registration figure on stage. Transition: scale is only interesting because winners ship to broadcast. Definitions: NFL Scouting Combine = the annual pre-draft prospect evaluation event where finalists present. Next Gen Stats = the NFL's player-tracking statistics product built with AWS. ML = machine learning. RYOE = rushing yards over expected. Provenance: docs/history.md + docs/references.md.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'why it matters' beat: contest entries become TV stats. Walk 2020 (Zoo to expected rushing yards in ~6 months), then 2023 pressure and 2024 tackle probability with their training scale. Transition: that pipeline runs on the tracking feed, which the next slide specs. Definitions: the Zoo = 2020 winning team (Singer + Gordeev, H2O AI); RYOE = rushing yards over expected, in yards; TD = touchdown; pressure and tackle probability = deployed statistics reporting 0-1 probability. As of September 2026. Provenance: docs/winners.md + docs/history.md.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RFID tags in shoulder pads + ball, Zebra hardware tracks players, Wilson makes the sensor ball; x/y = field coords, s = speed, a = acceleration, dis = distance, o = orientation, dir = direction; nflverse = community R/Python data package. Provenance: docs/data-guide.md field spec ([46]); 1.5 GB/week ([59]); seeded 1.6 GB 2024 / 7.7 GB 2025 (docs/muse-code.md, [58][25]); 25-play samples cut by scripts/make_samples.py. Transition: with data this big, workflow 1 says start small.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first run: uv run python scripts/explore_sample.py --data samples/2024 joins tracking and metadata, prints one play frame by frame, and writes a field plot to data/scratch/. Frame rate 10 hertz confirmed from sample timestamps (0.1 s steps). Transition: once the sample query reads right, workflow 2 scales it to full weeks. Definitions: muse exec = headless one-shot command-line run (no interactive session); 22 dots + ball = 11 offensive + 11 defensive players + the football; frame = one 10 Hz snapshot, 0.1 s apart; sample = 25-play in-git slice, not the full season. Row counts verified by wc: 19,113 (2024) / 92,069 (2025). As of 2026-09-28.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weekly tracking is our biggest I/O tax, so we pay it once. Chunked reads mean a laptop never holds a full week in RAM. The rebuild-first rule is the safety story: raw data is sacred, scratch is disposable, one command reproduces everything. Transition: data is now stored efficiently, so next we build features frame-up. Run: uv run python scripts/weeks_to_parquet.py [--data samples/2024] or BDB_DATA=data/2024 uv run python scripts/weeks_to_parquet.py. Raw files read-only; data/ is gitignored; missing-data path points to data/README.md re-seed or samples/2024 slice. As of Sep 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convnets = convolutional neural networks applied frame-by-frame; LightGBM/XGBoost = gradient-boosted tree libraries; formation encodings = numeric offense/defense alignment features. Provenance: docs/muse-code.md pattern list ([60][62][63]); scripts/features_frame_up.py. Transition: features need a baseline before any ensemble.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lasso-logistic = L1-regularized logistic regression; base rates = naive benchmark frequencies; group-by-play folds = cross-validation folds that keep all frames of a play together to prevent leakage; Optuna = hyperparameter tuner; Yurko = cited methods reference for base-rate/baseline/CV+SE discipline. Provenance: scripts/baseline_lasso.py; ensemble pattern [61]. Transition: baselines run at scale via batch + sandbox.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skills = reusable .agents/skills/&lt;id&gt;/SKILL.md prompt packages; mtime = file modification timestamp; Kaggle free tier = ~30 GPU-hours/week. Provenance: .agents/skills/ trio; scripts/sweep_weeks.sh + scripts/guard_data.sh (mtime canary); GPU budget [64]. Transition: process covered, next is what graders actually reward.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CV = cross-validation, SE = standard errors; Patton/Yurko = cited methodology references in docs/craft.md. Provenance: rubric 30/30/20/20 + 2000-word / &lt;10-figure limits (docs/craft.md, [37]); competition max 20 slides, this deck has 17. Transition: craft is timeless, but 2027 has a specific shape, which is the forecast.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ghost/counterfactual = predicted defender-free receiver paths; new kickoff = the redesigned kickoff formation; prediction vs metric years = alternating contest topics. Provenance: 2026 opened Sep 25 2025 ([33]); forecast + tooling thesis docs/2027-prediction.md. Transition: forecasts need local firepower, which Glimmer provides live.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30B = 30-billion-parameter open-weights model distilled from Muse Spark 1.2; NGL = number of GPU layers; Q4_K_M = 4-bit quantization variant; gpu_lock = Valkey mutual-exclusion key serializing GPU users; HTTP 503 = busy, 200 = served. Provenance: all numbers /tmp/glimmer-demo-numbers.md, measured 2026-09-28 on rocm-aibox: supervisor cold-start ~8 s, idle teardown 300 s, 503-then-200 lock behavior, 15 chunks in 73.5 s, 397-token review in 245 s wall. Transition: headline numbers next, head-to-head.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tokens/s = model throughput; mmproj = multimodal projector mapping images into token space; bf16 = 16-bit float; VRAM = GPU memory; Muse Spark hosted = subscription API counterpart. Provenance: /tmp/glimmer-demo-numbers.md 2026-09-28 rocm-aibox: NGL0 41.7 s wall / 5.7 prompt / 0.46 gen tokens/s; NGL13 186.7 s / 1.75 / 0.17, 11.62 GB VRAM; verdict = gen is bandwidth-bound so GPU layers add nothing, prompt slower than CPU; Spark 2m13s vs local 186.7 s; vision HTTP 200 in 135.8 s, mmproj bf16 11.09 GB, CPU embedding too slow for production. Transition: from local models back to daily Muse Code habits.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TUI = terminal user interface (interactive pairing); SKILL.md = skill manifest path. Provenance: tips 1-5 map to repo: explore_sample + weeks_to_parquet are already skills here (.agents/skills/). Transition: first half was interactive, second half is guardrails and scale.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MCP = Model Context Protocol, read-only-first = least-privilege tool wiring; /sessions + /rewind = session recovery commands; gpu_lock = same Valkey key from slide 13, reused for any GPU work. Provenance: tips 6-10 per docs/muse-code.md + live Glimmer endpoint :8181. Transition: habits listed, close on the thesis.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guide repo README 0-130 = companion Muse Code guide sections. Provenance: bowl repo layout (docs/samples/scripts/skills) as built; day-one plan = docs/2027-prediction.md checklist. Transition: none, final line restates the talk thesis for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1</a:t>
            </a:r>
          </a:p>
        </p:txBody>
      </p:sp>
      <p:sp>
        <p:nvSpPr>
          <p:cNvPr id="5" name="TextBox 4"/>
          <p:cNvSpPr txBox="1"/>
          <p:nvPr/>
        </p:nvSpPr>
        <p:spPr>
          <a:xfrm>
            <a:off x="640080" y="457200"/>
            <a:ext cx="10881360" cy="822960"/>
          </a:xfrm>
          <a:prstGeom prst="rect">
            <a:avLst/>
          </a:prstGeom>
          <a:noFill/>
        </p:spPr>
        <p:txBody>
          <a:bodyPr wrap="none">
            <a:spAutoFit/>
          </a:bodyPr>
          <a:lstStyle/>
          <a:p>
            <a:pPr algn="l"/>
            <a:r>
              <a:rPr b="1" sz="3200">
                <a:solidFill>
                  <a:srgbClr val="D7C7EE"/>
                </a:solidFill>
              </a:rPr>
              <a:t>Big Data Bowl meets Muse Code: NFL tracking data, worked live in the terminal</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600"/>
              </a:spcAft>
            </a:pPr>
            <a:r>
              <a:rPr sz="2000">
                <a:solidFill>
                  <a:srgbClr val="F0F0F0"/>
                </a:solidFill>
              </a:rPr>
              <a:t>The NFL Big Data Bowl is the league's annual analytics contest, run with AWS (Amazon Web Services), and this talk uses it as the vehicle.</a:t>
            </a:r>
          </a:p>
          <a:p>
            <a:pPr>
              <a:spcAft>
                <a:spcPts val="600"/>
              </a:spcAft>
            </a:pPr>
            <a:r>
              <a:rPr sz="2000">
                <a:solidFill>
                  <a:srgbClr val="F0F0F0"/>
                </a:solidFill>
              </a:rPr>
              <a:t>Muse Code is the agentic coding CLI we will drive live, and it is the instrument of the talk.</a:t>
            </a:r>
          </a:p>
          <a:p>
            <a:pPr>
              <a:spcAft>
                <a:spcPts val="600"/>
              </a:spcAft>
            </a:pPr>
            <a:r>
              <a:rPr sz="2000">
                <a:solidFill>
                  <a:srgbClr val="F0F0F0"/>
                </a:solidFill>
              </a:rPr>
              <a:t>Our raw material is NFL Next Gen Stats, the league's RFID player-and-ball tracking feed sampled at 10 frames per second.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2</a:t>
            </a:r>
          </a:p>
        </p:txBody>
      </p:sp>
      <p:sp>
        <p:nvSpPr>
          <p:cNvPr id="5" name="TextBox 4"/>
          <p:cNvSpPr txBox="1"/>
          <p:nvPr/>
        </p:nvSpPr>
        <p:spPr>
          <a:xfrm>
            <a:off x="640080" y="457200"/>
            <a:ext cx="10881360" cy="822960"/>
          </a:xfrm>
          <a:prstGeom prst="rect">
            <a:avLst/>
          </a:prstGeom>
          <a:noFill/>
        </p:spPr>
        <p:txBody>
          <a:bodyPr wrap="none">
            <a:spAutoFit/>
          </a:bodyPr>
          <a:lstStyle/>
          <a:p>
            <a:pPr algn="l"/>
            <a:r>
              <a:rPr b="1" sz="3200">
                <a:solidFill>
                  <a:srgbClr val="D7C7EE"/>
                </a:solidFill>
              </a:rPr>
              <a:t>The challenge: invent a stat good enough for live television</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600"/>
              </a:spcAft>
            </a:pPr>
            <a:r>
              <a:rPr sz="1800">
                <a:solidFill>
                  <a:srgbClr val="F0F0F0"/>
                </a:solidFill>
              </a:rPr>
              <a:t>The Big Data Bowl is the yearly analytics contest run by NFL Football Operations together with Amazon Web Services, using real player-tracking data from the league's Next Gen Stats system.</a:t>
            </a:r>
          </a:p>
          <a:p>
            <a:pPr>
              <a:spcAft>
                <a:spcPts val="600"/>
              </a:spcAft>
            </a:pPr>
            <a:r>
              <a:rPr sz="1800">
                <a:solidFill>
                  <a:srgbClr val="F0F0F0"/>
                </a:solidFill>
              </a:rPr>
              <a:t>Every tracked player is located ten times per second (10 hertz), so each play yields hundreds of position, speed, and acceleration readings for analysis.</a:t>
            </a:r>
          </a:p>
          <a:p>
            <a:pPr>
              <a:spcAft>
                <a:spcPts val="600"/>
              </a:spcAft>
            </a:pPr>
            <a:r>
              <a:rPr sz="1800">
                <a:solidFill>
                  <a:srgbClr val="F0F0F0"/>
                </a:solidFill>
              </a:rPr>
              <a:t>The winning entries become real products: past winners have gone on to appear in live television broadcasts and in the analytics dashboards used by club front offices.</a:t>
            </a:r>
          </a:p>
          <a:p>
            <a:pPr>
              <a:spcAft>
                <a:spcPts val="600"/>
              </a:spcAft>
            </a:pPr>
            <a:r>
              <a:rPr sz="1800">
                <a:solidFill>
                  <a:srgbClr val="F0F0F0"/>
                </a:solidFill>
              </a:rPr>
              <a:t>Eight editions ran from 2019 through 2026, and the 2027 edition had not been announced as of September 2026, so this entry is preparation, not a reaction to a published topic.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3</a:t>
            </a:r>
          </a:p>
        </p:txBody>
      </p:sp>
      <p:sp>
        <p:nvSpPr>
          <p:cNvPr id="5" name="TextBox 4"/>
          <p:cNvSpPr txBox="1"/>
          <p:nvPr/>
        </p:nvSpPr>
        <p:spPr>
          <a:xfrm>
            <a:off x="640080" y="457200"/>
            <a:ext cx="10881360" cy="822960"/>
          </a:xfrm>
          <a:prstGeom prst="rect">
            <a:avLst/>
          </a:prstGeom>
          <a:noFill/>
        </p:spPr>
        <p:txBody>
          <a:bodyPr wrap="none">
            <a:spAutoFit/>
          </a:bodyPr>
          <a:lstStyle/>
          <a:p>
            <a:pPr algn="l"/>
            <a:r>
              <a:rPr b="1" sz="3200">
                <a:solidFill>
                  <a:srgbClr val="D7C7EE"/>
                </a:solidFill>
              </a:rPr>
              <a:t>A $100,000 contest at NFL scale — and a hiring pipeline</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600"/>
              </a:spcAft>
            </a:pPr>
            <a:r>
              <a:rPr sz="1800">
                <a:solidFill>
                  <a:srgbClr val="F0F0F0"/>
                </a:solidFill>
              </a:rPr>
              <a:t>The 2026 contest offers a $100,000 prize pool, and its finalists present in person at the 2026 NFL Scouting Combine (per NFL Football Operations hub and AWS Sports tracks page; as of September 2025 announcements).</a:t>
            </a:r>
          </a:p>
          <a:p>
            <a:pPr>
              <a:spcAft>
                <a:spcPts val="600"/>
              </a:spcAft>
            </a:pPr>
            <a:r>
              <a:rPr sz="1800">
                <a:solidFill>
                  <a:srgbClr val="F0F0F0"/>
                </a:solidFill>
              </a:rPr>
              <a:t>The 2026 edition drew 8,329 registrations from 771 teams across 69 countries (single-sourced and provisional, summarizing the December 2025 results; treat as approximate until the NFL confirms).</a:t>
            </a:r>
          </a:p>
          <a:p>
            <a:pPr>
              <a:spcAft>
                <a:spcPts val="600"/>
              </a:spcAft>
            </a:pPr>
            <a:r>
              <a:rPr sz="1800">
                <a:solidFill>
                  <a:srgbClr val="F0F0F0"/>
                </a:solidFill>
              </a:rPr>
              <a:t>AWS (Amazon Web Services) processes more than 500 million player-tracking data points per NFL season (per the AWS Sports NFL page; figure undated, restate as 'AWS reports 500M+ per season').</a:t>
            </a:r>
          </a:p>
          <a:p>
            <a:pPr>
              <a:spcAft>
                <a:spcPts val="600"/>
              </a:spcAft>
            </a:pPr>
            <a:r>
              <a:rPr sz="1800">
                <a:solidFill>
                  <a:srgbClr val="F0F0F0"/>
                </a:solidFill>
              </a:rPr>
              <a:t>The league's pipeline already ships 75+ machine-learning (ML) statistics including rushing yards over expected, built on this tracking data (per AWS Media blog; as of the 2025-2026 partnership announcements).</a:t>
            </a:r>
          </a:p>
          <a:p>
            <a:pPr>
              <a:spcAft>
                <a:spcPts val="600"/>
              </a:spcAft>
            </a:pPr>
            <a:r>
              <a:rPr sz="1800">
                <a:solidFill>
                  <a:srgbClr val="F0F0F0"/>
                </a:solidFill>
              </a:rPr>
              <a:t>More than 50 past entrants have been hired into football analytics roles, with 30+ hired directly by teams or vendors (per September 2024 reporting plus talk notes; single-sourced — say 'reportedly' on stage).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4</a:t>
            </a:r>
          </a:p>
        </p:txBody>
      </p:sp>
      <p:sp>
        <p:nvSpPr>
          <p:cNvPr id="5" name="TextBox 4"/>
          <p:cNvSpPr txBox="1"/>
          <p:nvPr/>
        </p:nvSpPr>
        <p:spPr>
          <a:xfrm>
            <a:off x="640080" y="457200"/>
            <a:ext cx="10881360" cy="822960"/>
          </a:xfrm>
          <a:prstGeom prst="rect">
            <a:avLst/>
          </a:prstGeom>
          <a:noFill/>
        </p:spPr>
        <p:txBody>
          <a:bodyPr wrap="none">
            <a:spAutoFit/>
          </a:bodyPr>
          <a:lstStyle/>
          <a:p>
            <a:pPr algn="l"/>
            <a:r>
              <a:rPr b="1" sz="2800">
                <a:solidFill>
                  <a:srgbClr val="D7C7EE"/>
                </a:solidFill>
              </a:rPr>
              <a:t>Winning ideas reach the broadcast: from contest entry to television statistic</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600"/>
              </a:spcAft>
            </a:pPr>
            <a:r>
              <a:rPr sz="1800">
                <a:solidFill>
                  <a:srgbClr val="F0F0F0"/>
                </a:solidFill>
              </a:rPr>
              <a:t>In 2020, Philipp Singer and Dmitry Gordeev of H2O AI, competing as team the Zoo, won by predicting the full distribution of rushing yards from handoff positions and velocities, and their approach became the expected rushing yards television statistic within about six months.</a:t>
            </a:r>
          </a:p>
          <a:p>
            <a:pPr>
              <a:spcAft>
                <a:spcPts val="600"/>
              </a:spcAft>
            </a:pPr>
            <a:r>
              <a:rPr sz="1800">
                <a:solidFill>
                  <a:srgbClr val="F0F0F0"/>
                </a:solidFill>
              </a:rPr>
              <a:t>The same 2020 pipeline produced three follow-on television statistics measured in yards and probabilities from zero to one: rushing yards over expected, first-down probability, and touchdown probability.</a:t>
            </a:r>
          </a:p>
          <a:p>
            <a:pPr>
              <a:spcAft>
                <a:spcPts val="600"/>
              </a:spcAft>
            </a:pPr>
            <a:r>
              <a:rPr sz="1800">
                <a:solidFill>
                  <a:srgbClr val="F0F0F0"/>
                </a:solidFill>
              </a:rPr>
              <a:t>In 2023, the pocket-pressure contest fed the deployed pressure probability statistic, which combines four models trained over 90,000 plays.</a:t>
            </a:r>
          </a:p>
          <a:p>
            <a:pPr>
              <a:spcAft>
                <a:spcPts val="600"/>
              </a:spcAft>
            </a:pPr>
            <a:r>
              <a:rPr sz="1800">
                <a:solidFill>
                  <a:srgbClr val="F0F0F0"/>
                </a:solidFill>
              </a:rPr>
              <a:t>In 2024, the missed-tackle contest fed the deployed tackle probability statistic, which uses 20 features per defender across 11 defenders, trained on 2018 through 2022 seasons and tested on 2023.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5</a:t>
            </a:r>
          </a:p>
        </p:txBody>
      </p:sp>
      <p:sp>
        <p:nvSpPr>
          <p:cNvPr id="5" name="TextBox 4"/>
          <p:cNvSpPr txBox="1"/>
          <p:nvPr/>
        </p:nvSpPr>
        <p:spPr>
          <a:xfrm>
            <a:off x="640080" y="457200"/>
            <a:ext cx="10881360" cy="822960"/>
          </a:xfrm>
          <a:prstGeom prst="rect">
            <a:avLst/>
          </a:prstGeom>
          <a:noFill/>
        </p:spPr>
        <p:txBody>
          <a:bodyPr wrap="none">
            <a:spAutoFit/>
          </a:bodyPr>
          <a:lstStyle/>
          <a:p>
            <a:pPr algn="l"/>
            <a:r>
              <a:rPr sz="4000" b="1">
                <a:solidFill>
                  <a:srgbClr val="D7C7EE"/>
                </a:solidFill>
                <a:latin typeface="Cinzel"/>
              </a:rPr>
              <a:t>the data</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1000"/>
              </a:spcAft>
            </a:pPr>
            <a:r>
              <a:rPr sz="2400" b="0">
                <a:solidFill>
                  <a:srgbClr val="F0F0F0"/>
                </a:solidFill>
                <a:latin typeface="Calibri"/>
              </a:rPr>
              <a:t>RFID (radio-frequency identification) tags, Zebra + Wilson hardware  |  every player + ball</a:t>
            </a:r>
          </a:p>
          <a:p>
            <a:pPr>
              <a:spcAft>
                <a:spcPts val="1000"/>
              </a:spcAft>
            </a:pPr>
            <a:r>
              <a:rPr sz="2400" b="0">
                <a:solidFill>
                  <a:srgbClr val="F0F0F0"/>
                </a:solidFill>
                <a:latin typeface="Calibri"/>
              </a:rPr>
              <a:t>fields: x y s a dis o dir event frameId nflId (+frameType 2025)</a:t>
            </a:r>
          </a:p>
          <a:p>
            <a:pPr>
              <a:spcAft>
                <a:spcPts val="1000"/>
              </a:spcAft>
            </a:pPr>
            <a:r>
              <a:rPr sz="2400" b="0">
                <a:solidFill>
                  <a:srgbClr val="F0F0F0"/>
                </a:solidFill>
                <a:latin typeface="Calibri"/>
              </a:rPr>
              <a:t>keys gameId / playId / nflId  |  nflverse via old_game_id, play_id as int</a:t>
            </a:r>
          </a:p>
          <a:p>
            <a:pPr>
              <a:spcAft>
                <a:spcPts val="1000"/>
              </a:spcAft>
            </a:pPr>
            <a:r>
              <a:rPr sz="2400" b="0">
                <a:solidFill>
                  <a:srgbClr val="F0F0F0"/>
                </a:solidFill>
                <a:latin typeface="Calibri"/>
              </a:rPr>
              <a:t>weekly CSVs ~1.5 GB  |  seeded 2024 1.6 GB + 2025 7.7 GB  |  samples: 25 plays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6</a:t>
            </a:r>
          </a:p>
        </p:txBody>
      </p:sp>
      <p:sp>
        <p:nvSpPr>
          <p:cNvPr id="5" name="TextBox 4"/>
          <p:cNvSpPr txBox="1"/>
          <p:nvPr/>
        </p:nvSpPr>
        <p:spPr>
          <a:xfrm>
            <a:off x="640080" y="457200"/>
            <a:ext cx="10881360" cy="822960"/>
          </a:xfrm>
          <a:prstGeom prst="rect">
            <a:avLst/>
          </a:prstGeom>
          <a:noFill/>
        </p:spPr>
        <p:txBody>
          <a:bodyPr wrap="none">
            <a:spAutoFit/>
          </a:bodyPr>
          <a:lstStyle/>
          <a:p>
            <a:pPr algn="l"/>
            <a:r>
              <a:rPr sz="4000" b="1">
                <a:solidFill>
                  <a:srgbClr val="D7C7EE"/>
                </a:solidFill>
                <a:latin typeface="Cinzel"/>
              </a:rPr>
              <a:t>workflow 1: explore the sample first</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600"/>
              </a:spcAft>
            </a:pPr>
            <a:r>
              <a:rPr sz="1800">
                <a:solidFill>
                  <a:srgbClr val="F0F0F0"/>
                </a:solidFill>
              </a:rPr>
              <a:t>Start with the in-git sample slice instead of the full download: samples/2024/tracking_sample.csv holds 19,113 tracking rows across 25 plays, and samples/2025 holds 92,069 rows, so every query runs in seconds with zero download.</a:t>
            </a:r>
          </a:p>
          <a:p>
            <a:pPr>
              <a:spcAft>
                <a:spcPts val="600"/>
              </a:spcAft>
            </a:pPr>
            <a:r>
              <a:rPr sz="1800">
                <a:solidFill>
                  <a:srgbClr val="F0F0F0"/>
                </a:solidFill>
              </a:rPr>
              <a:t>The explore script joins tracking_sample.csv with games.csv, plays.csv, and players.csv on gameId, playId, and nflId, then prints one play frame by frame and plots all 22 players plus the ball.</a:t>
            </a:r>
          </a:p>
          <a:p>
            <a:pPr>
              <a:spcAft>
                <a:spcPts val="600"/>
              </a:spcAft>
            </a:pPr>
            <a:r>
              <a:rPr sz="1800">
                <a:solidFill>
                  <a:srgbClr val="F0F0F0"/>
                </a:solidFill>
              </a:rPr>
              <a:t>The narrative example is gameId 2022090800, playId 56 (Buffalo at Los Angeles, September 8 2022) with tagged events pass_arrived, pass_outcome_caught, and tackle.</a:t>
            </a:r>
          </a:p>
          <a:p>
            <a:pPr>
              <a:spcAft>
                <a:spcPts val="600"/>
              </a:spcAft>
            </a:pPr>
            <a:r>
              <a:rPr sz="1800">
                <a:solidFill>
                  <a:srgbClr val="F0F0F0"/>
                </a:solidFill>
              </a:rPr>
              <a:t>Column units are explicit: x spans 0 to 120 yards of field length, y spans 0 to 53.3 yards of width, s is yards per second, a is yards per second squared, dis is yards since the prior frame, and o and dir are 0 to 360 degrees; once the query reads right on the sample, the identical prompt is replayed headlessly with muse exec against full week files.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7</a:t>
            </a:r>
          </a:p>
        </p:txBody>
      </p:sp>
      <p:sp>
        <p:nvSpPr>
          <p:cNvPr id="5" name="TextBox 4"/>
          <p:cNvSpPr txBox="1"/>
          <p:nvPr/>
        </p:nvSpPr>
        <p:spPr>
          <a:xfrm>
            <a:off x="640080" y="457200"/>
            <a:ext cx="10881360" cy="822960"/>
          </a:xfrm>
          <a:prstGeom prst="rect">
            <a:avLst/>
          </a:prstGeom>
          <a:noFill/>
        </p:spPr>
        <p:txBody>
          <a:bodyPr wrap="none">
            <a:spAutoFit/>
          </a:bodyPr>
          <a:lstStyle/>
          <a:p>
            <a:pPr algn="l"/>
            <a:r>
              <a:rPr b="1" sz="2800">
                <a:solidFill>
                  <a:srgbClr val="D7C7EE"/>
                </a:solidFill>
              </a:rPr>
              <a:t>Workflow 2: convert weekly tracking files to Parquet once, reuse forever</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600"/>
              </a:spcAft>
            </a:pPr>
            <a:r>
              <a:rPr sz="1800">
                <a:solidFill>
                  <a:srgbClr val="F0F0F0"/>
                </a:solidFill>
              </a:rPr>
              <a:t>Weekly player-tracking files are too large to load into memory at once, so the pipeline reads them in chunks using pandas chunksize reads of 200,000 rows (or a Polars lazy scan plus sink), which keeps memory flat regardless of file size.</a:t>
            </a:r>
          </a:p>
          <a:p>
            <a:pPr>
              <a:spcAft>
                <a:spcPts val="600"/>
              </a:spcAft>
            </a:pPr>
            <a:r>
              <a:rPr sz="1800">
                <a:solidFill>
                  <a:srgbClr val="F0F0F0"/>
                </a:solidFill>
              </a:rPr>
              <a:t>Each weekly tracking file is converted to Parquet format exactly once, and every later step (features, sweeps, plots) reads the fast Parquet copy, so the conversion cost is paid one time and all downstream runs get faster.</a:t>
            </a:r>
          </a:p>
          <a:p>
            <a:pPr>
              <a:spcAft>
                <a:spcPts val="600"/>
              </a:spcAft>
            </a:pPr>
            <a:r>
              <a:rPr sz="1800">
                <a:solidFill>
                  <a:srgbClr val="F0F0F0"/>
                </a:solidFill>
              </a:rPr>
              <a:t>The rebuild script (scripts/weeks_to_parquet.py) is written before any feature code: raw comma-separated-value files stay read-only and are never overwritten, while all generated files land in the rebuildable data/scratch/ directory.</a:t>
            </a:r>
          </a:p>
          <a:p>
            <a:pPr>
              <a:spcAft>
                <a:spcPts val="600"/>
              </a:spcAft>
            </a:pPr>
            <a:r>
              <a:rPr sz="1800">
                <a:solidFill>
                  <a:srgbClr val="F0F0F0"/>
                </a:solidFill>
              </a:rPr>
              <a:t>Disk budget is about 2 gigabytes per weekly file uncompressed; the converter aggregates each file to one row per game, play, and player with mean motion columns plus frame count.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8</a:t>
            </a:r>
          </a:p>
        </p:txBody>
      </p:sp>
      <p:sp>
        <p:nvSpPr>
          <p:cNvPr id="5" name="TextBox 4"/>
          <p:cNvSpPr txBox="1"/>
          <p:nvPr/>
        </p:nvSpPr>
        <p:spPr>
          <a:xfrm>
            <a:off x="640080" y="457200"/>
            <a:ext cx="10881360" cy="822960"/>
          </a:xfrm>
          <a:prstGeom prst="rect">
            <a:avLst/>
          </a:prstGeom>
          <a:noFill/>
        </p:spPr>
        <p:txBody>
          <a:bodyPr wrap="none">
            <a:spAutoFit/>
          </a:bodyPr>
          <a:lstStyle/>
          <a:p>
            <a:pPr algn="l"/>
            <a:r>
              <a:rPr sz="4000" b="1">
                <a:solidFill>
                  <a:srgbClr val="D7C7EE"/>
                </a:solidFill>
                <a:latin typeface="Cinzel"/>
              </a:rPr>
              <a:t>workflow 3: features, frame up</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1000"/>
              </a:spcAft>
            </a:pPr>
            <a:r>
              <a:rPr sz="2400" b="0">
                <a:solidFill>
                  <a:srgbClr val="F0F0F0"/>
                </a:solidFill>
                <a:latin typeface="Calibri"/>
              </a:rPr>
              <a:t>league shape: frame-level features, per-player models, play stat</a:t>
            </a:r>
          </a:p>
          <a:p>
            <a:pPr>
              <a:spcAft>
                <a:spcPts val="1000"/>
              </a:spcAft>
            </a:pPr>
            <a:r>
              <a:rPr sz="2400" b="0">
                <a:solidFill>
                  <a:srgbClr val="F0F0F0"/>
                </a:solidFill>
                <a:latin typeface="Calibri"/>
              </a:rPr>
              <a:t>speed / accel / distance-to-line + formation encodings</a:t>
            </a:r>
          </a:p>
          <a:p>
            <a:pPr>
              <a:spcAft>
                <a:spcPts val="1000"/>
              </a:spcAft>
            </a:pPr>
            <a:r>
              <a:rPr sz="2400" b="0">
                <a:solidFill>
                  <a:srgbClr val="F0F0F0"/>
                </a:solidFill>
                <a:latin typeface="Calibri"/>
              </a:rPr>
              <a:t>frame-by-frame convolutional networks (convnets) for tackle probability</a:t>
            </a:r>
          </a:p>
          <a:p>
            <a:pPr>
              <a:spcAft>
                <a:spcPts val="1000"/>
              </a:spcAft>
            </a:pPr>
            <a:r>
              <a:rPr sz="2400" b="0">
                <a:solidFill>
                  <a:srgbClr val="F0F0F0"/>
                </a:solidFill>
                <a:latin typeface="Calibri"/>
              </a:rPr>
              <a:t>LightGBM picked over XGBoost for speed + memory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9</a:t>
            </a:r>
          </a:p>
        </p:txBody>
      </p:sp>
      <p:sp>
        <p:nvSpPr>
          <p:cNvPr id="5" name="TextBox 4"/>
          <p:cNvSpPr txBox="1"/>
          <p:nvPr/>
        </p:nvSpPr>
        <p:spPr>
          <a:xfrm>
            <a:off x="640080" y="457200"/>
            <a:ext cx="10881360" cy="822960"/>
          </a:xfrm>
          <a:prstGeom prst="rect">
            <a:avLst/>
          </a:prstGeom>
          <a:noFill/>
        </p:spPr>
        <p:txBody>
          <a:bodyPr wrap="none">
            <a:spAutoFit/>
          </a:bodyPr>
          <a:lstStyle/>
          <a:p>
            <a:pPr algn="l"/>
            <a:r>
              <a:rPr sz="4000" b="1">
                <a:solidFill>
                  <a:srgbClr val="D7C7EE"/>
                </a:solidFill>
                <a:latin typeface="Cinzel"/>
              </a:rPr>
              <a:t>workflow 4: baseline, then ensemble</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1000"/>
              </a:spcAft>
            </a:pPr>
            <a:r>
              <a:rPr sz="2400" b="0">
                <a:solidFill>
                  <a:srgbClr val="F0F0F0"/>
                </a:solidFill>
                <a:latin typeface="Calibri"/>
              </a:rPr>
              <a:t>lasso-logistic baseline with base rates + cross-validated accuracy w/ errors</a:t>
            </a:r>
          </a:p>
          <a:p>
            <a:pPr>
              <a:spcAft>
                <a:spcPts val="1000"/>
              </a:spcAft>
            </a:pPr>
            <a:r>
              <a:rPr sz="2400" b="0">
                <a:solidFill>
                  <a:srgbClr val="F0F0F0"/>
                </a:solidFill>
                <a:latin typeface="Calibri"/>
              </a:rPr>
              <a:t>group-by-play folds  |  XGBoost / LightGBM / CatBoost + Optuna</a:t>
            </a:r>
          </a:p>
          <a:p>
            <a:pPr>
              <a:spcAft>
                <a:spcPts val="1000"/>
              </a:spcAft>
            </a:pPr>
            <a:r>
              <a:rPr sz="2400" b="0">
                <a:solidFill>
                  <a:srgbClr val="F0F0F0"/>
                </a:solidFill>
                <a:latin typeface="Calibri"/>
              </a:rPr>
              <a:t>one seed + one config per output dir, runs stay comparable</a:t>
            </a:r>
          </a:p>
          <a:p>
            <a:pPr>
              <a:spcAft>
                <a:spcPts val="1000"/>
              </a:spcAft>
            </a:pPr>
            <a:r>
              <a:rPr sz="2400" b="0">
                <a:solidFill>
                  <a:srgbClr val="F0F0F0"/>
                </a:solidFill>
                <a:latin typeface="Calibri"/>
              </a:rPr>
              <a:t>scripts/baseline_lasso.py  |  Yurko discipline wired 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10</a:t>
            </a:r>
          </a:p>
        </p:txBody>
      </p:sp>
      <p:sp>
        <p:nvSpPr>
          <p:cNvPr id="5" name="TextBox 4"/>
          <p:cNvSpPr txBox="1"/>
          <p:nvPr/>
        </p:nvSpPr>
        <p:spPr>
          <a:xfrm>
            <a:off x="640080" y="457200"/>
            <a:ext cx="10881360" cy="822960"/>
          </a:xfrm>
          <a:prstGeom prst="rect">
            <a:avLst/>
          </a:prstGeom>
          <a:noFill/>
        </p:spPr>
        <p:txBody>
          <a:bodyPr wrap="none">
            <a:spAutoFit/>
          </a:bodyPr>
          <a:lstStyle/>
          <a:p>
            <a:pPr algn="l"/>
            <a:r>
              <a:rPr sz="4000" b="1">
                <a:solidFill>
                  <a:srgbClr val="D7C7EE"/>
                </a:solidFill>
                <a:latin typeface="Cinzel"/>
              </a:rPr>
              <a:t>skills + batch + sandbox</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1000"/>
              </a:spcAft>
            </a:pPr>
            <a:r>
              <a:rPr sz="2400" b="0">
                <a:solidFill>
                  <a:srgbClr val="F0F0F0"/>
                </a:solidFill>
                <a:latin typeface="Calibri"/>
              </a:rPr>
              <a:t>3 skills: chunk-to-parquet, join-and-slice, baseline-ensemble</a:t>
            </a:r>
          </a:p>
          <a:p>
            <a:pPr>
              <a:spcAft>
                <a:spcPts val="1000"/>
              </a:spcAft>
            </a:pPr>
            <a:r>
              <a:rPr sz="2400" b="0">
                <a:solidFill>
                  <a:srgbClr val="F0F0F0"/>
                </a:solidFill>
                <a:latin typeface="Calibri"/>
              </a:rPr>
              <a:t>sweep_weeks.sh: one exec prompt per question, CSV + PNG each</a:t>
            </a:r>
          </a:p>
          <a:p>
            <a:pPr>
              <a:spcAft>
                <a:spcPts val="1000"/>
              </a:spcAft>
            </a:pPr>
            <a:r>
              <a:rPr sz="2400" b="0">
                <a:solidFill>
                  <a:srgbClr val="F0F0F0"/>
                </a:solidFill>
                <a:latin typeface="Calibri"/>
              </a:rPr>
              <a:t>guard_data.sh trips on raw mtime moves  |  data/ read-only, scratch writes</a:t>
            </a:r>
          </a:p>
          <a:p>
            <a:pPr>
              <a:spcAft>
                <a:spcPts val="1000"/>
              </a:spcAft>
            </a:pPr>
            <a:r>
              <a:rPr sz="2400" b="0">
                <a:solidFill>
                  <a:srgbClr val="F0F0F0"/>
                </a:solidFill>
                <a:latin typeface="Calibri"/>
              </a:rPr>
              <a:t>free local Glimmer review, Kaggle ~30 GPU-hours/week free tier for keepers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11</a:t>
            </a:r>
          </a:p>
        </p:txBody>
      </p:sp>
      <p:sp>
        <p:nvSpPr>
          <p:cNvPr id="5" name="TextBox 4"/>
          <p:cNvSpPr txBox="1"/>
          <p:nvPr/>
        </p:nvSpPr>
        <p:spPr>
          <a:xfrm>
            <a:off x="640080" y="457200"/>
            <a:ext cx="10881360" cy="822960"/>
          </a:xfrm>
          <a:prstGeom prst="rect">
            <a:avLst/>
          </a:prstGeom>
          <a:noFill/>
        </p:spPr>
        <p:txBody>
          <a:bodyPr wrap="none">
            <a:spAutoFit/>
          </a:bodyPr>
          <a:lstStyle/>
          <a:p>
            <a:pPr algn="l"/>
            <a:r>
              <a:rPr sz="4000" b="1">
                <a:solidFill>
                  <a:srgbClr val="D7C7EE"/>
                </a:solidFill>
                <a:latin typeface="Cinzel"/>
              </a:rPr>
              <a:t>craft: what graders reward</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1000"/>
              </a:spcAft>
            </a:pPr>
            <a:r>
              <a:rPr sz="2400" b="0">
                <a:solidFill>
                  <a:srgbClr val="F0F0F0"/>
                </a:solidFill>
                <a:latin typeface="Calibri"/>
              </a:rPr>
              <a:t>rubric 30 / 30 / 20 / 20 (football / data science / report / visuals)  |  tracking data must matter, not decorate</a:t>
            </a:r>
          </a:p>
          <a:p>
            <a:pPr>
              <a:spcAft>
                <a:spcPts val="1000"/>
              </a:spcAft>
            </a:pPr>
            <a:r>
              <a:rPr sz="2400" b="0">
                <a:solidFill>
                  <a:srgbClr val="F0F0F0"/>
                </a:solidFill>
                <a:latin typeface="Calibri"/>
              </a:rPr>
              <a:t>Patton: answer the prompt, graders work nights, look expensive</a:t>
            </a:r>
          </a:p>
          <a:p>
            <a:pPr>
              <a:spcAft>
                <a:spcPts val="1000"/>
              </a:spcAft>
            </a:pPr>
            <a:r>
              <a:rPr sz="2400" b="0">
                <a:solidFill>
                  <a:srgbClr val="F0F0F0"/>
                </a:solidFill>
                <a:latin typeface="Calibri"/>
              </a:rPr>
              <a:t>state limits, proofread, conclude  |  formats: 2000 words, &lt;10 figures</a:t>
            </a:r>
          </a:p>
          <a:p>
            <a:pPr>
              <a:spcAft>
                <a:spcPts val="1000"/>
              </a:spcAft>
            </a:pPr>
            <a:r>
              <a:rPr sz="2400" b="0">
                <a:solidFill>
                  <a:srgbClr val="F0F0F0"/>
                </a:solidFill>
                <a:latin typeface="Calibri"/>
              </a:rPr>
              <a:t>Yurko: base rates, simple baseline, CV (cross-validation) + SE (standard errors), downstream use over fit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12</a:t>
            </a:r>
          </a:p>
        </p:txBody>
      </p:sp>
      <p:sp>
        <p:nvSpPr>
          <p:cNvPr id="5" name="TextBox 4"/>
          <p:cNvSpPr txBox="1"/>
          <p:nvPr/>
        </p:nvSpPr>
        <p:spPr>
          <a:xfrm>
            <a:off x="640080" y="457200"/>
            <a:ext cx="10881360" cy="822960"/>
          </a:xfrm>
          <a:prstGeom prst="rect">
            <a:avLst/>
          </a:prstGeom>
          <a:noFill/>
        </p:spPr>
        <p:txBody>
          <a:bodyPr wrap="none">
            <a:spAutoFit/>
          </a:bodyPr>
          <a:lstStyle/>
          <a:p>
            <a:pPr algn="l"/>
            <a:r>
              <a:rPr sz="4000" b="1">
                <a:solidFill>
                  <a:srgbClr val="D7C7EE"/>
                </a:solidFill>
                <a:latin typeface="Cinzel"/>
              </a:rPr>
              <a:t>2027 forecast</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1000"/>
              </a:spcAft>
            </a:pPr>
            <a:r>
              <a:rPr sz="2400" b="0">
                <a:solidFill>
                  <a:srgbClr val="F0F0F0"/>
                </a:solidFill>
                <a:latin typeface="Calibri"/>
              </a:rPr>
              <a:t>cadence: 2026 opened Sep 25, 2025  |  announcement could be any day</a:t>
            </a:r>
          </a:p>
          <a:p>
            <a:pPr>
              <a:spcAft>
                <a:spcPts val="1000"/>
              </a:spcAft>
            </a:pPr>
            <a:r>
              <a:rPr sz="2400" b="0">
                <a:solidFill>
                  <a:srgbClr val="F0F0F0"/>
                </a:solidFill>
                <a:latin typeface="Calibri"/>
              </a:rPr>
              <a:t>prediction years alternate with metric years  |  defense is due</a:t>
            </a:r>
          </a:p>
          <a:p>
            <a:pPr>
              <a:spcAft>
                <a:spcPts val="1000"/>
              </a:spcAft>
            </a:pPr>
            <a:r>
              <a:rPr sz="2400" b="0">
                <a:solidFill>
                  <a:srgbClr val="F0F0F0"/>
                </a:solidFill>
                <a:latin typeface="Calibri"/>
              </a:rPr>
              <a:t>#1 ghost / counterfactual  #2 new kickoff  #3 run blocking</a:t>
            </a:r>
          </a:p>
          <a:p>
            <a:pPr>
              <a:spcAft>
                <a:spcPts val="1000"/>
              </a:spcAft>
            </a:pPr>
            <a:r>
              <a:rPr sz="2400" b="0">
                <a:solidFill>
                  <a:srgbClr val="F0F0F0"/>
                </a:solidFill>
                <a:latin typeface="Calibri"/>
              </a:rPr>
              <a:t>winners' tooling was done before the topic existed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13</a:t>
            </a:r>
          </a:p>
        </p:txBody>
      </p:sp>
      <p:sp>
        <p:nvSpPr>
          <p:cNvPr id="5" name="TextBox 4"/>
          <p:cNvSpPr txBox="1"/>
          <p:nvPr/>
        </p:nvSpPr>
        <p:spPr>
          <a:xfrm>
            <a:off x="640080" y="457200"/>
            <a:ext cx="10881360" cy="822960"/>
          </a:xfrm>
          <a:prstGeom prst="rect">
            <a:avLst/>
          </a:prstGeom>
          <a:noFill/>
        </p:spPr>
        <p:txBody>
          <a:bodyPr wrap="none">
            <a:spAutoFit/>
          </a:bodyPr>
          <a:lstStyle/>
          <a:p>
            <a:pPr algn="l"/>
            <a:r>
              <a:rPr sz="4000" b="1">
                <a:solidFill>
                  <a:srgbClr val="D7C7EE"/>
                </a:solidFill>
                <a:latin typeface="Cinzel"/>
              </a:rPr>
              <a:t>glimmer proof (live)</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1000"/>
              </a:spcAft>
            </a:pPr>
            <a:r>
              <a:rPr sz="2400" b="0">
                <a:solidFill>
                  <a:srgbClr val="F0F0F0"/>
                </a:solidFill>
                <a:latin typeface="Calibri"/>
              </a:rPr>
              <a:t>open weights, 30-billion-parameter (30B), Apache-2.0, distilled from Muse Spark 1.2</a:t>
            </a:r>
          </a:p>
          <a:p>
            <a:pPr>
              <a:spcAft>
                <a:spcPts val="1000"/>
              </a:spcAft>
            </a:pPr>
            <a:r>
              <a:rPr sz="2400" b="0">
                <a:solidFill>
                  <a:srgbClr val="F0F0F0"/>
                </a:solidFill>
                <a:latin typeface="Calibri"/>
              </a:rPr>
              <a:t>http://127.0.0.1:8181/v1 + /healthz (stable), supervisor cold-start ~8 s, idle teardown 300 s</a:t>
            </a:r>
          </a:p>
          <a:p>
            <a:pPr>
              <a:spcAft>
                <a:spcPts val="1000"/>
              </a:spcAft>
            </a:pPr>
            <a:r>
              <a:rPr sz="2400" b="0">
                <a:solidFill>
                  <a:srgbClr val="F0F0F0"/>
                </a:solidFill>
                <a:latin typeface="Calibri"/>
              </a:rPr>
              <a:t>-ngl 13 (13 layers on GPU) -c 4096, Q4_K_M (4-bit)  |  gpu_lock: HTTP 503 while held, 200 after release</a:t>
            </a:r>
          </a:p>
          <a:p>
            <a:pPr>
              <a:spcAft>
                <a:spcPts val="1000"/>
              </a:spcAft>
            </a:pPr>
            <a:r>
              <a:rPr sz="2400" b="0">
                <a:solidFill>
                  <a:srgbClr val="F0F0F0"/>
                </a:solidFill>
                <a:latin typeface="Calibri"/>
              </a:rPr>
              <a:t>streaming HTTP 200, 15 chunks in 73.5 s  |  review (397 prompt tokens): 245 s wall, verbose reasoning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14</a:t>
            </a:r>
          </a:p>
        </p:txBody>
      </p:sp>
      <p:sp>
        <p:nvSpPr>
          <p:cNvPr id="5" name="TextBox 4"/>
          <p:cNvSpPr txBox="1"/>
          <p:nvPr/>
        </p:nvSpPr>
        <p:spPr>
          <a:xfrm>
            <a:off x="640080" y="457200"/>
            <a:ext cx="10881360" cy="822960"/>
          </a:xfrm>
          <a:prstGeom prst="rect">
            <a:avLst/>
          </a:prstGeom>
          <a:noFill/>
        </p:spPr>
        <p:txBody>
          <a:bodyPr wrap="none">
            <a:spAutoFit/>
          </a:bodyPr>
          <a:lstStyle/>
          <a:p>
            <a:pPr algn="l"/>
            <a:r>
              <a:rPr sz="4000" b="1">
                <a:solidFill>
                  <a:srgbClr val="D7C7EE"/>
                </a:solidFill>
                <a:latin typeface="Cinzel"/>
              </a:rPr>
              <a:t>live numbers: glimmer 30b on rocm-aibox</a:t>
            </a:r>
          </a:p>
        </p:txBody>
      </p:sp>
      <p:sp>
        <p:nvSpPr>
          <p:cNvPr id="6" name="TextBox 5"/>
          <p:cNvSpPr txBox="1"/>
          <p:nvPr/>
        </p:nvSpPr>
        <p:spPr>
          <a:xfrm>
            <a:off x="640080" y="1420000"/>
            <a:ext cx="10881360" cy="5000000"/>
          </a:xfrm>
          <a:prstGeom prst="rect">
            <a:avLst/>
          </a:prstGeom>
          <a:noFill/>
        </p:spPr>
        <p:txBody>
          <a:bodyPr wrap="none">
            <a:spAutoFit/>
          </a:bodyPr>
          <a:lstStyle/>
          <a:p>
            <a:pPr>
              <a:spcAft>
                <a:spcPts val="600"/>
              </a:spcAft>
            </a:pPr>
            <a:r>
              <a:rPr sz="1800" b="0">
                <a:solidFill>
                  <a:srgbClr val="F0F0F0"/>
                </a:solidFill>
                <a:latin typeface="Calibri"/>
              </a:rPr>
              <a:t>NGL 0 (0 layers on GPU, CPU-only)  |  wall 41.7 s warm  |  prompt 5.7 tokens/s  |  gen 0.46 tokens/s  |  +~0 GPU</a:t>
            </a:r>
          </a:p>
          <a:p>
            <a:pPr>
              <a:spcAft>
                <a:spcPts val="600"/>
              </a:spcAft>
            </a:pPr>
            <a:r>
              <a:rPr sz="1800" b="0">
                <a:solidFill>
                  <a:srgbClr val="F0F0F0"/>
                </a:solidFill>
                <a:latin typeface="Calibri"/>
              </a:rPr>
              <a:t>NGL 13 (13 layers on GPU, text-only)  |  wall 186.7 s  |  prompt 1.75 tokens/s  |  gen 0.17 tokens/s  |  11.62 GB</a:t>
            </a:r>
          </a:p>
          <a:p>
            <a:pPr>
              <a:spcAft>
                <a:spcPts val="600"/>
              </a:spcAft>
            </a:pPr>
            <a:r>
              <a:rPr sz="1800" b="0">
                <a:solidFill>
                  <a:srgbClr val="C9A23F"/>
                </a:solidFill>
                <a:latin typeface="Calibri"/>
              </a:rPr>
              <a:t>verdict: 13 GPU layers buy nothing at gen (bandwidth-bound); prompt 1.75 slower than CPU-only 5.7 tokens/s</a:t>
            </a:r>
          </a:p>
          <a:p>
            <a:pPr>
              <a:spcAft>
                <a:spcPts val="600"/>
              </a:spcAft>
            </a:pPr>
            <a:r>
              <a:rPr sz="1800" b="0">
                <a:solidFill>
                  <a:srgbClr val="F0F0F0"/>
                </a:solidFill>
                <a:latin typeface="Calibri"/>
              </a:rPr>
              <a:t>Muse Spark (hosted) vs Glimmer (local): 2 m 13 s via subscription vs 186.7 s local NGL 13</a:t>
            </a:r>
          </a:p>
          <a:p>
            <a:pPr>
              <a:spcAft>
                <a:spcPts val="600"/>
              </a:spcAft>
            </a:pPr>
            <a:r>
              <a:rPr sz="1800" b="0">
                <a:solidFill>
                  <a:srgbClr val="F0F0F0"/>
                </a:solidFill>
                <a:latin typeface="Calibri"/>
              </a:rPr>
              <a:t>vision (final): HTTP 200 in 135.8 s on 6.5 KB thumbnail; mmproj (multimodal projector) bf16 at 11.09 GB; CPU embedding too slow for production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15</a:t>
            </a:r>
          </a:p>
        </p:txBody>
      </p:sp>
      <p:sp>
        <p:nvSpPr>
          <p:cNvPr id="5" name="TextBox 4"/>
          <p:cNvSpPr txBox="1"/>
          <p:nvPr/>
        </p:nvSpPr>
        <p:spPr>
          <a:xfrm>
            <a:off x="640080" y="457200"/>
            <a:ext cx="10881360" cy="822960"/>
          </a:xfrm>
          <a:prstGeom prst="rect">
            <a:avLst/>
          </a:prstGeom>
          <a:noFill/>
        </p:spPr>
        <p:txBody>
          <a:bodyPr wrap="none">
            <a:spAutoFit/>
          </a:bodyPr>
          <a:lstStyle/>
          <a:p>
            <a:pPr algn="l"/>
            <a:r>
              <a:rPr sz="4000" b="1">
                <a:solidFill>
                  <a:srgbClr val="D7C7EE"/>
                </a:solidFill>
                <a:latin typeface="Cinzel"/>
              </a:rPr>
              <a:t>take-home tips 1-5</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1000"/>
              </a:spcAft>
            </a:pPr>
            <a:r>
              <a:rPr sz="2400" b="0">
                <a:solidFill>
                  <a:srgbClr val="F0F0F0"/>
                </a:solidFill>
                <a:latin typeface="Calibri"/>
              </a:rPr>
              <a:t>1 muse init memory  |  2 TUI (terminal UI) pair / exec batch</a:t>
            </a:r>
          </a:p>
          <a:p>
            <a:pPr>
              <a:spcAft>
                <a:spcPts val="1000"/>
              </a:spcAft>
            </a:pPr>
            <a:r>
              <a:rPr sz="2400" b="0">
                <a:solidFill>
                  <a:srgbClr val="F0F0F0"/>
                </a:solidFill>
                <a:latin typeface="Calibri"/>
              </a:rPr>
              <a:t>3 --model + /models  |  4 --reasoning-effort + /effort</a:t>
            </a:r>
          </a:p>
          <a:p>
            <a:pPr>
              <a:spcAft>
                <a:spcPts val="1000"/>
              </a:spcAft>
            </a:pPr>
            <a:r>
              <a:rPr sz="2400" b="0">
                <a:solidFill>
                  <a:srgbClr val="F0F0F0"/>
                </a:solidFill>
                <a:latin typeface="Calibri"/>
              </a:rPr>
              <a:t>5 one custom skill per repeated job (.agents/skills/&lt;id&gt;/SKILL.md)</a:t>
            </a:r>
          </a:p>
          <a:p>
            <a:pPr>
              <a:spcAft>
                <a:spcPts val="1000"/>
              </a:spcAft>
            </a:pPr>
            <a:r>
              <a:rPr sz="2400" b="0">
                <a:solidFill>
                  <a:srgbClr val="F0F0F0"/>
                </a:solidFill>
                <a:latin typeface="Calibri"/>
              </a:rPr>
              <a:t>bowl mapping: explore_sample, weeks_to_parquet already skills here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16</a:t>
            </a:r>
          </a:p>
        </p:txBody>
      </p:sp>
      <p:sp>
        <p:nvSpPr>
          <p:cNvPr id="5" name="TextBox 4"/>
          <p:cNvSpPr txBox="1"/>
          <p:nvPr/>
        </p:nvSpPr>
        <p:spPr>
          <a:xfrm>
            <a:off x="640080" y="457200"/>
            <a:ext cx="10881360" cy="822960"/>
          </a:xfrm>
          <a:prstGeom prst="rect">
            <a:avLst/>
          </a:prstGeom>
          <a:noFill/>
        </p:spPr>
        <p:txBody>
          <a:bodyPr wrap="none">
            <a:spAutoFit/>
          </a:bodyPr>
          <a:lstStyle/>
          <a:p>
            <a:pPr algn="l"/>
            <a:r>
              <a:rPr sz="4000" b="1">
                <a:solidFill>
                  <a:srgbClr val="D7C7EE"/>
                </a:solidFill>
                <a:latin typeface="Cinzel"/>
              </a:rPr>
              <a:t>take-home tips 6-10</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1000"/>
              </a:spcAft>
            </a:pPr>
            <a:r>
              <a:rPr sz="2400" b="0">
                <a:solidFill>
                  <a:srgbClr val="F0F0F0"/>
                </a:solidFill>
                <a:latin typeface="Calibri"/>
              </a:rPr>
              <a:t>6 MCP (Model Context Protocol) read-only first  |  7 sandbox + approve deliberately</a:t>
            </a:r>
          </a:p>
          <a:p>
            <a:pPr>
              <a:spcAft>
                <a:spcPts val="1000"/>
              </a:spcAft>
            </a:pPr>
            <a:r>
              <a:rPr sz="2400" b="0">
                <a:solidFill>
                  <a:srgbClr val="F0F0F0"/>
                </a:solidFill>
                <a:latin typeface="Calibri"/>
              </a:rPr>
              <a:t>8 /sessions + /rewind  |  9 workflow fan-out with evidence contract</a:t>
            </a:r>
          </a:p>
          <a:p>
            <a:pPr>
              <a:spcAft>
                <a:spcPts val="1000"/>
              </a:spcAft>
            </a:pPr>
            <a:r>
              <a:rPr sz="2400" b="0">
                <a:solidFill>
                  <a:srgbClr val="F0F0F0"/>
                </a:solidFill>
                <a:latin typeface="Calibri"/>
              </a:rPr>
              <a:t>10 Spark API without the TUI, hosted + local Glimmer :8181</a:t>
            </a:r>
          </a:p>
          <a:p>
            <a:pPr>
              <a:spcAft>
                <a:spcPts val="1000"/>
              </a:spcAft>
            </a:pPr>
            <a:r>
              <a:rPr sz="2400" b="0">
                <a:solidFill>
                  <a:srgbClr val="F0F0F0"/>
                </a:solidFill>
                <a:latin typeface="Calibri"/>
              </a:rPr>
              <a:t>spend limits day one  |  gpu_lock for GPU work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2A"/>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0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dn-accent-bar"/>
          <p:cNvSpPr/>
          <p:nvPr/>
        </p:nvSpPr>
        <p:spPr>
          <a:xfrm>
            <a:off x="0" y="0"/>
            <a:ext cx="127000" cy="6858000"/>
          </a:xfrm>
          <a:prstGeom prst="rect">
            <a:avLst/>
          </a:prstGeom>
          <a:solidFill>
            <a:srgbClr val="906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09360"/>
            <a:ext cx="548640" cy="304800"/>
          </a:xfrm>
          <a:prstGeom prst="rect">
            <a:avLst/>
          </a:prstGeom>
          <a:noFill/>
        </p:spPr>
        <p:txBody>
          <a:bodyPr wrap="none">
            <a:spAutoFit/>
          </a:bodyPr>
          <a:lstStyle/>
          <a:p>
            <a:pPr algn="r"/>
            <a:r>
              <a:rPr sz="1200">
                <a:solidFill>
                  <a:srgbClr val="C9A23F"/>
                </a:solidFill>
                <a:latin typeface="Calibri"/>
              </a:rPr>
              <a:t>17</a:t>
            </a:r>
          </a:p>
        </p:txBody>
      </p:sp>
      <p:sp>
        <p:nvSpPr>
          <p:cNvPr id="5" name="TextBox 4"/>
          <p:cNvSpPr txBox="1"/>
          <p:nvPr/>
        </p:nvSpPr>
        <p:spPr>
          <a:xfrm>
            <a:off x="640080" y="457200"/>
            <a:ext cx="10881360" cy="822960"/>
          </a:xfrm>
          <a:prstGeom prst="rect">
            <a:avLst/>
          </a:prstGeom>
          <a:noFill/>
        </p:spPr>
        <p:txBody>
          <a:bodyPr wrap="none">
            <a:spAutoFit/>
          </a:bodyPr>
          <a:lstStyle/>
          <a:p>
            <a:pPr algn="l"/>
            <a:r>
              <a:rPr sz="4000" b="1">
                <a:solidFill>
                  <a:srgbClr val="D7C7EE"/>
                </a:solidFill>
                <a:latin typeface="Cinzel"/>
              </a:rPr>
              <a:t>close: vehicle + instrument</a:t>
            </a:r>
          </a:p>
        </p:txBody>
      </p:sp>
      <p:sp>
        <p:nvSpPr>
          <p:cNvPr id="6" name="TextBox 5"/>
          <p:cNvSpPr txBox="1"/>
          <p:nvPr/>
        </p:nvSpPr>
        <p:spPr>
          <a:xfrm>
            <a:off x="640080" y="1554480"/>
            <a:ext cx="10881360" cy="4389120"/>
          </a:xfrm>
          <a:prstGeom prst="rect">
            <a:avLst/>
          </a:prstGeom>
          <a:noFill/>
        </p:spPr>
        <p:txBody>
          <a:bodyPr wrap="none">
            <a:spAutoFit/>
          </a:bodyPr>
          <a:lstStyle/>
          <a:p>
            <a:pPr>
              <a:spcAft>
                <a:spcPts val="1000"/>
              </a:spcAft>
            </a:pPr>
            <a:r>
              <a:rPr sz="2400" b="0">
                <a:solidFill>
                  <a:srgbClr val="F0F0F0"/>
                </a:solidFill>
                <a:latin typeface="Calibri"/>
              </a:rPr>
              <a:t>bowl repo: docs, samples, scripts, skills  |  guide repo: README 0-130</a:t>
            </a:r>
          </a:p>
          <a:p>
            <a:pPr>
              <a:spcAft>
                <a:spcPts val="1000"/>
              </a:spcAft>
            </a:pPr>
            <a:r>
              <a:rPr sz="2400" b="0">
                <a:solidFill>
                  <a:srgbClr val="F0F0F0"/>
                </a:solidFill>
                <a:latin typeface="Calibri"/>
              </a:rPr>
              <a:t>day one of announcement: data downloads while baselines re-run</a:t>
            </a:r>
          </a:p>
          <a:p>
            <a:pPr>
              <a:spcAft>
                <a:spcPts val="1000"/>
              </a:spcAft>
            </a:pPr>
            <a:r>
              <a:rPr sz="2400" b="0">
                <a:solidFill>
                  <a:srgbClr val="F0F0F0"/>
                </a:solidFill>
                <a:latin typeface="Calibri"/>
              </a:rPr>
              <a:t>competition is the demo vehicle, muse code is the instrument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