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contract: the contest is the frame, the CLI is how we work it. Say plainly: Big Data Bowl equals the NFL's annual analytics contest with AWS; Muse Code equals the agentic CLI on screen; Next Gen Stats equals RFID tracking at 10 frames per second. Then bridge: next slide states what the contest actually asks. Definitions: Big Data Bowl = NFL annual analytics contest (with AWS) - Muse Code = agentic coding CLI - Next Gen Stats = RFID tracking feed, 10 frames/sec. As of Sep 2026; 2027 edition unannounced. Provenance: docs/talk-notes.md premise; repo README: eight editions 2019-2026.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naming the prize in plain terms: a stat you invent here can end up on live TV. Walk the four facts in order: who runs it, what the data is, where winners go, and where we stand now. Pause on the 10-hertz figure and translate it (ten snapshots per second per player). Close with the honest caveat: eight editions 2019-2026 per docs/history.md; 2027 topic unannounced as of Sep 2026 per docs/2027-prediction.md. Transition: next slide shows the scale of the tracking data. Definitions: NFL Football Operations = the league office group that runs the contest; Next Gen Stats = the league's player-tracking data system; hertz = measurements per second.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money and the stage: $100k and a live Combine final. Then the funnel: 8,329 registrations down to hired analysts. Caveat the single-sourced registration figure on stage. Transition: scale is only interesting because winners ship to broadcast. Definitions: NFL Scouting Combine = the annual pre-draft prospect evaluation event where finalists present. Next Gen Stats = the NFL's player-tracking statistics product built with AWS. ML = machine learning. RYOE = rushing yards over expected. Provenance: docs/history.md + docs/references.md.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'why it matters' beat: contest entries become TV stats. Walk 2020 (Zoo to expected rushing yards in ~6 months), then 2023 pressure and 2024 tackle probability with their training scale. Transition: that pipeline runs on the tracking feed, which the next slide specs. Definitions: the Zoo = 2020 winning team (Singer + Gordeev, H2O AI); RYOE = rushing yards over expected, in yards; TD = touchdown; pressure and tackle probability = deployed statistics reporting 0-1 probability. As of September 2026. Provenance: docs/winners.md + docs/history.md.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RFID equals radio-frequency identification; x and y are field coordinates in yards; s is speed; a is acceleration; dis is distance; o is orientation; dir is direction. Provenance: docs/muse-code.md and samples/2024 plus samples/2025, as of September 2026. Transition: now that the grain is clear, the first workflow explores the sample before touching full weeks. Run: uv run python scripts/explore_sample.py --data samples/2024.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Concrete first run: uv run python scripts/explore_sample.py --data samples/2024 joins tracking and metadata, prints one play frame by frame, and writes a field plot to data/scratch/. Frame rate 10 hertz confirmed from sample timestamps (0.1 s steps). Transition: once the sample query reads right, workflow 2 scales it to full weeks. Definitions: muse exec = headless one-shot command-line run (no interactive session); 22 dots + ball = 11 offensive + 11 defensive players + the football; frame = one 10 Hz snapshot, 0.1 s apart; sample = 25-play in-git slice, not the full season. Row counts verified by wc: 19,113 (2024) / 92,069 (2025). As of 2026-09-28.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weekly tracking is our biggest I/O tax, so we pay it once. Chunked reads mean a laptop never holds a full week in RAM. The rebuild-first rule is the safety story: raw data is sacred, scratch is disposable, one command reproduces everything. Transition: data is now stored efficiently, so next we build features frame-up. Run: uv run python scripts/weeks_to_parquet.py [--data samples/2024] or BDB_DATA=data/2024 uv run python scripts/weeks_to_parquet.py. Raw files read-only; data/ is gitignored; missing-data path points to data/README.md re-seed or samples/2024 slice. As of Sep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convnet equals convolutional neural network applied across frames; LightGBM and XGBoost are gradient-boosted tree libraries; formation encodings are numeric alignment features. Provenance: scripts/features_frame_up.py and docs/muse-code.md, as of September 2026. Transition: features exist, so next we set the baseline before any ensemble. Run: uv run python scripts/features_frame_up.py.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lasso-logistic equals L1-regularized logistic regression; base rates are naive benchmark frequencies; group-by-play folds keep each play intact; Optuna is a hyperparameter tuner. Provenance: scripts/baseline_lasso.py at 0.700 plus-minus 0.110 and docs/muse-code.md, as of September 2026. Transition: models are comparable, so next we package the repetition as skills. Run: uv run python scripts/baseline_lasso.py.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skill manifest equals SKILL.md prompt package; mtime is file modification timestamp; exec mode is non-interactive batch. Provenance: .agents/skills trio plus scripts/sweep_weeks.sh and scripts/guard_data.sh, as of September 2026. Transition: automation is safe, so next is what graders actually reward. Run: bash scripts/sweep_weeks.sh --dry-run; bash scripts/guard_data.sh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CV equals cross-validation; SE equals standard errors; Patton and Yurko are methodology references cited in docs/craft.md. Provenance: rubric 30/30/20/20 with 2000-word and sub-10-figure limits in docs/craft.md, as of September 2026. Transition: craft is covered, so next is where the 2027 topic likely goes. Run: none, this slide is a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ghost/counterfactual equals predicted defender-free paths; prediction versus metric years are alternating contest topics. Provenance: 2026 open date September 25 2025 plus docs/2027-prediction.md, as of September 2026. Transition: forecast set, now the local model that backs all of this. Run: none, watch the NFL Football Operations hub.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30B equals 30-billion parameters; NGL is number of GPU layers; Q4_K_M is the 4-bit quantization variant; gpu_lock is the Valkey mutual-exclusion key; Valkey is a Redis-compatible store. Provenance: muse-code/glimmer/glimmer_supervisor.py and health/check.py, as of September 2026. Transition: architecture is clear, now the measured numbers. Run: curl http://127.0.0.1:8181/healthz.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tokens/s is model throughput; mmproj is the multimodal projector mapping images into token space; bf16 is 16-bit float; VRAM is GPU memory. Provenance: NGL shootout log September 2026, 41.7s vs 186.7s vs 2m13s and vision 135.8s. Transition: numbers banked, now the take-home tips. Run: rocm-smi --showmeminfo vram during the NGL 13 pass.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TUI is the terminal user interface for interactive pairing; SKILL.md is the skill manifest path. Provenance: tips map to scripts/explore_sample.py and scripts/weeks_to_parquet.py as skills, as of September 2026. Transition: first half banked, second half is safety and scale. Run: muse init in any fresh clone.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MCP equals Model Context Protocol; /sessions and /rewind are session recovery commands; gpu_lock is the Valkey key from the Glimmer slides. Provenance: health/check.py plus glimmer_supervisor.py and the slide-scorecards workflow, as of September 2026. Transition: tips complete, closing the loop. Run: single-line copy-paste commands in each skill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guide README 0-130 are the companion Muse Code guide sections. Provenance: bowl repository layout docs/samples/scripts/skills as built, plus day-one plan in docs/2027-prediction.md, as of September 2026. Transition: thank the room, take questions, run the sample live. Run: uv run python scripts/explore_sample.py --data samples/2024.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/>
              <a:t>Big Data Bowl x Muse Code: NFL tracking, live in terminal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rPr sz="2400"/>
              <a:t>Big Data Bowl = vehicle. Muse Code = instrument.</a:t>
            </a:r>
          </a:p>
          <a:p>
            <a:pPr>
              <a:spcAft>
                <a:spcPts val="1400"/>
              </a:spcAft>
            </a:pPr>
            <a:r>
              <a:rPr sz="2400"/>
              <a:t>NFL Next Gen Stats: every player + ball, 10 Hz.</a:t>
            </a:r>
          </a:p>
          <a:p>
            <a:pPr>
              <a:spcAft>
                <a:spcPts val="1400"/>
              </a:spcAft>
            </a:pPr>
            <a:r>
              <a:rPr sz="2400"/>
              <a:t>17 slides. Live demos. No mockups.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/>
              <a:t>Invent a stat good enough for live TV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rPr sz="2400"/>
              <a:t>Annual contest: NFL Football Operations + AWS.</a:t>
            </a:r>
          </a:p>
          <a:p>
            <a:pPr>
              <a:spcAft>
                <a:spcPts val="1400"/>
              </a:spcAft>
            </a:pPr>
            <a:r>
              <a:rPr sz="2400"/>
              <a:t>Real tracking data. Winners ship to broadcast.</a:t>
            </a:r>
          </a:p>
          <a:p>
            <a:pPr>
              <a:spcAft>
                <a:spcPts val="1400"/>
              </a:spcAft>
            </a:pPr>
            <a:r>
              <a:rPr sz="2400"/>
              <a:t>2027 topic unannounced: prep now, react never.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/>
              <a:t>$100K. Combine stage. Hiring pipeline.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rPr sz="2400"/>
              <a:t>2026: $100K pool. Finalists present at Combine.</a:t>
            </a:r>
          </a:p>
          <a:p>
            <a:pPr>
              <a:spcAft>
                <a:spcPts val="1400"/>
              </a:spcAft>
            </a:pPr>
            <a:r>
              <a:rPr sz="2400"/>
              <a:t>Reported 8,329 registrations. 771 teams. 69 countries.</a:t>
            </a:r>
          </a:p>
          <a:p>
            <a:pPr>
              <a:spcAft>
                <a:spcPts val="1400"/>
              </a:spcAft>
            </a:pPr>
            <a:r>
              <a:rPr sz="2400"/>
              <a:t>50+ entrants hired. 30+ by teams, reportedly.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/>
              <a:t>Contest entries become TV stats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rPr sz="2400"/>
              <a:t>2020: team Zoo predicted rush distributions.</a:t>
            </a:r>
          </a:p>
          <a:p>
            <a:pPr>
              <a:spcAft>
                <a:spcPts val="1400"/>
              </a:spcAft>
            </a:pPr>
            <a:r>
              <a:rPr sz="2400"/>
              <a:t>Shipped in ~6 months: expected rush yards.</a:t>
            </a:r>
          </a:p>
          <a:p>
            <a:pPr>
              <a:spcAft>
                <a:spcPts val="1400"/>
              </a:spcAft>
            </a:pPr>
            <a:r>
              <a:t>2024: tackle probability: 20 features x 11.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/>
              <a:t>Every player. Every ball. 10x per second.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rPr sz="2400"/>
              <a:t>RFID tags + sensor ball. Zebra hardware.</a:t>
            </a:r>
          </a:p>
          <a:p>
            <a:pPr>
              <a:spcAft>
                <a:spcPts val="1400"/>
              </a:spcAft>
            </a:pPr>
            <a:r>
              <a:rPr sz="2400"/>
              <a:t>Per row: x/y, speed, accel, event, frame/play/player IDs.</a:t>
            </a:r>
          </a:p>
          <a:p>
            <a:pPr>
              <a:spcAft>
                <a:spcPts val="1400"/>
              </a:spcAft>
            </a:pPr>
            <a:r>
              <a:rPr sz="2400"/>
              <a:t>Weeks ~1.5 GB CSVs. Demos use 25-play sample.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/>
              <a:t>Workflow 1: Sample first. Full weeks later.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rPr sz="2400"/>
              <a:t>19,113 rows. 25 plays. Zero download.</a:t>
            </a:r>
          </a:p>
          <a:p>
            <a:pPr>
              <a:spcAft>
                <a:spcPts val="1400"/>
              </a:spcAft>
            </a:pPr>
            <a:r>
              <a:rPr sz="2400"/>
              <a:t>Join tracking + games + plays + players. Plot 22 + ball.</a:t>
            </a:r>
          </a:p>
          <a:p>
            <a:pPr>
              <a:spcAft>
                <a:spcPts val="1400"/>
              </a:spcAft>
            </a:pPr>
            <a:r>
              <a:rPr sz="2400"/>
              <a:t>x: 0-120 yd. y: 0-53.3. Angles 0-360.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/>
              <a:t>Workflow 2: Parquet once. Fast forever.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rPr sz="2400"/>
              <a:t>Weeks too big for RAM. Chunk reads: 200K rows.</a:t>
            </a:r>
          </a:p>
          <a:p>
            <a:pPr>
              <a:spcAft>
                <a:spcPts val="1400"/>
              </a:spcAft>
            </a:pPr>
            <a:r>
              <a:rPr sz="2400"/>
              <a:t>Convert weekly CSV -&gt; Parquet exactly once.</a:t>
            </a:r>
          </a:p>
          <a:p>
            <a:pPr>
              <a:spcAft>
                <a:spcPts val="1400"/>
              </a:spcAft>
            </a:pPr>
            <a:r>
              <a:rPr sz="2400"/>
              <a:t>Raw stays read-only. Outputs land in data/scratch/.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/>
              <a:t>Workflow 3: Features frame-up.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rPr sz="2400"/>
              <a:t>Frame features -&gt; per-player models -&gt; one play stat.</a:t>
            </a:r>
          </a:p>
          <a:p>
            <a:pPr>
              <a:spcAft>
                <a:spcPts val="1400"/>
              </a:spcAft>
            </a:pPr>
            <a:r>
              <a:rPr sz="2400"/>
              <a:t>Speed. Accel. Distance-to-line. Formation encodings.</a:t>
            </a:r>
          </a:p>
          <a:p>
            <a:pPr>
              <a:spcAft>
                <a:spcPts val="1400"/>
              </a:spcAft>
            </a:pPr>
            <a:r>
              <a:rPr sz="2400"/>
              <a:t>Convnets for tackle probability. LightGBM over XGBoost: faster, leaner.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/>
              <a:t>Workflow 4: Baseline, then earn ensemble.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rPr sz="2400"/>
              <a:t>Baseline: lasso-logistic, 0.700 +/- 0.110.</a:t>
            </a:r>
          </a:p>
          <a:p>
            <a:pPr>
              <a:spcAft>
                <a:spcPts val="1400"/>
              </a:spcAft>
            </a:pPr>
            <a:r>
              <a:rPr sz="2400"/>
              <a:t>Group folds by play. No leakage across frames.</a:t>
            </a:r>
          </a:p>
          <a:p>
            <a:pPr>
              <a:spcAft>
                <a:spcPts val="1400"/>
              </a:spcAft>
            </a:pPr>
            <a:r>
              <a:t>Ensemble must beat baseline by 1 SE. One seed, one config.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/>
              <a:t>Skills carry repetition. Guards protect raw.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rPr sz="2400"/>
              <a:t>3 skills: chunk-to-parquet. join-and-slice. baseline-ensemble.</a:t>
            </a:r>
          </a:p>
          <a:p>
            <a:pPr>
              <a:spcAft>
                <a:spcPts val="1400"/>
              </a:spcAft>
            </a:pPr>
            <a:r>
              <a:rPr sz="2400"/>
              <a:t>sweep_weeks.sh: one prompt per question. CSV + PNG each.</a:t>
            </a:r>
          </a:p>
          <a:p>
            <a:pPr>
              <a:spcAft>
                <a:spcPts val="1400"/>
              </a:spcAft>
            </a:pPr>
            <a:r>
              <a:rPr sz="2400"/>
              <a:t>guard_data.sh trips on raw moves. Reviews on free local Glimmer.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/>
              <a:t>Rubric 30/30/20/20. Cause, never decorate.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rPr sz="2400"/>
              <a:t>Football 30. Data science 30. Report 20. Visuals 20.</a:t>
            </a:r>
          </a:p>
          <a:p>
            <a:pPr>
              <a:spcAft>
                <a:spcPts val="1400"/>
              </a:spcAft>
            </a:pPr>
            <a:r>
              <a:rPr sz="2400"/>
              <a:t>2,000 words. Under 10 figures. Charts argue.</a:t>
            </a:r>
          </a:p>
          <a:p>
            <a:pPr>
              <a:spcAft>
                <a:spcPts val="1400"/>
              </a:spcAft>
            </a:pPr>
            <a:r>
              <a:t>Tracking causes, not decorates. Base rates + baseline + errors.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/>
              <a:t>2027 forecast: defense is due.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rPr sz="2400"/>
              <a:t>2026 opened Sep 2025. 2027 unannounced: drops any day.</a:t>
            </a:r>
          </a:p>
          <a:p>
            <a:pPr>
              <a:spcAft>
                <a:spcPts val="1400"/>
              </a:spcAft>
            </a:pPr>
            <a:r>
              <a:rPr sz="2400"/>
              <a:t>Prediction alternates metric years. Offense banked. Defense next.</a:t>
            </a:r>
          </a:p>
          <a:p>
            <a:pPr>
              <a:spcAft>
                <a:spcPts val="1400"/>
              </a:spcAft>
            </a:pPr>
            <a:r>
              <a:rPr sz="2400"/>
              <a:t>Shortlist: ghost paths. New kickoff. Run blocking.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/>
              <a:t>Glimmer: 30B params. One workstation. Live.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t>Open weights. Apache 2.0. From Muse Spark.</a:t>
            </a:r>
          </a:p>
          <a:p>
            <a:pPr>
              <a:spcAft>
                <a:spcPts val="1400"/>
              </a:spcAft>
            </a:pPr>
            <a:r>
              <a:rPr sz="2400"/>
              <a:t>12 GB card. 13 GPU layers. 4-bit quant.</a:t>
            </a:r>
          </a:p>
          <a:p>
            <a:pPr>
              <a:spcAft>
                <a:spcPts val="1400"/>
              </a:spcAft>
            </a:pPr>
            <a:r>
              <a:rPr sz="2400"/>
              <a:t>Local :8181. Cold start ~8s. Locked = 503. Free = 200.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/>
              <a:t>13 GPU layers buy nothing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20000"/>
            <a:ext cx="10881360" cy="5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rPr sz="2400"/>
              <a:t>CPU-only: 41.7s warm. 5.7 tok/s prompt. ~0 GPU.</a:t>
            </a:r>
          </a:p>
          <a:p>
            <a:pPr>
              <a:spcAft>
                <a:spcPts val="1400"/>
              </a:spcAft>
            </a:pPr>
            <a:r>
              <a:rPr sz="2400"/>
              <a:t>NGL 13: 186.7s. 1.75 tok/s. 11.62 GB held. Bandwidth-bound.</a:t>
            </a:r>
          </a:p>
          <a:p>
            <a:pPr>
              <a:spcAft>
                <a:spcPts val="1400"/>
              </a:spcAft>
            </a:pPr>
            <a:r>
              <a:rPr sz="2400"/>
              <a:t>Hosted: 2m13s. Draft local. Promote keepers.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/>
              <a:t>Memory, modes, one skill per job.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rPr sz="2400"/>
              <a:t>muse init: persist conventions. Never re-explain.</a:t>
            </a:r>
          </a:p>
          <a:p>
            <a:pPr>
              <a:spcAft>
                <a:spcPts val="1400"/>
              </a:spcAft>
            </a:pPr>
            <a:r>
              <a:rPr sz="2400"/>
              <a:t>Pair interactive. Sweep headless exec.</a:t>
            </a:r>
          </a:p>
          <a:p>
            <a:pPr>
              <a:spcAft>
                <a:spcPts val="1400"/>
              </a:spcAft>
            </a:pPr>
            <a:r>
              <a:rPr sz="2400"/>
              <a:t>Pin model per task. Budget reasoning. One skill per repeated job.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/>
              <a:t>Read-only first. Rewind. Spend limits.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rPr sz="2400"/>
              <a:t>MCP read-only first. Sandbox on. Approve writes.</a:t>
            </a:r>
          </a:p>
          <a:p>
            <a:pPr>
              <a:spcAft>
                <a:spcPts val="1400"/>
              </a:spcAft>
            </a:pPr>
            <a:r>
              <a:rPr sz="2400"/>
              <a:t>Rewind beats retyping. Fan out with evidence.</a:t>
            </a:r>
          </a:p>
          <a:p>
            <a:pPr>
              <a:spcAft>
                <a:spcPts val="1400"/>
              </a:spcAft>
            </a:pPr>
            <a:r>
              <a:rPr sz="2400"/>
              <a:t>Spark API + local Glimmer. Spend limits day one.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/>
              <a:t>Vehicle + instrument. Start tonight.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rPr sz="2400"/>
              <a:t>Bowl repo: docs, samples, scripts, skills. Guide: README 0-130.</a:t>
            </a:r>
          </a:p>
          <a:p>
            <a:pPr>
              <a:spcAft>
                <a:spcPts val="1400"/>
              </a:spcAft>
            </a:pPr>
            <a:r>
              <a:rPr sz="2400"/>
              <a:t>Day one: data downloads while baselines re-run.</a:t>
            </a:r>
          </a:p>
          <a:p>
            <a:pPr>
              <a:spcAft>
                <a:spcPts val="1400"/>
              </a:spcAft>
            </a:pPr>
            <a:r>
              <a:rPr sz="2400"/>
              <a:t>One command: uv run python scripts/explore_sample.py --data samples/2024.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