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contract: the contest is the frame, the CLI is how we work it. Say plainly: Big Data Bowl equals the NFL's annual analytics contest with AWS; Muse Code equals the agentic CLI on screen; Next Gen Stats equals RFID tracking at 10 frames per second. Then bridge: next slide states what the contest actually asks. Definitions: Big Data Bowl = NFL annual analytics contest (with AWS) - Muse Code = agentic coding CLI - Next Gen Stats = RFID tracking feed, 10 frames/sec. As of Sep 2026; 2027 edition unannounced. Provenance: docs/talk-notes.md premise; repo README: eight editions 2019-2026.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prize in plain terms: a stat you invent here can end up on live TV. Walk the four facts in order: who runs it, what the data is, where winners go, and where we stand now. Pause on the 10-hertz figure and translate it (ten snapshots per second per player). Close with the honest caveat: eight editions 2019-2026 per docs/history.md; 2027 topic unannounced as of Sep 2026 per docs/2027-prediction.md. Transition: next slide shows the scale of the tracking data. Definitions: NFL Football Operations = the league office group that runs the contest; Next Gen Stats = the league's player-tracking data system; hertz = measurements per second.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money and the stage: $100k and a live Combine final. Then the funnel: 8,329 registrations down to hired analysts. Caveat the single-sourced registration figure on stage. Transition: scale is only interesting because winners ship to broadcast. Definitions: NFL Scouting Combine = the annual pre-draft prospect evaluation event where finalists present. Next Gen Stats = the NFL's player-tracking statistics product built with AWS. ML = machine learning. RYOE = rushing yards over expected. Provenance: docs/history.md + docs/references.md.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'why it matters' beat: contest entries become TV stats. Walk 2020 (Zoo to expected rushing yards in ~6 months), then 2023 pressure and 2024 tackle probability with their training scale. Transition: that pipeline runs on the tracking feed, which the next slide specs. Definitions: the Zoo = 2020 winning team (Singer + Gordeev, H2O AI); RYOE = rushing yards over expected, in yards; TD = touchdown; pressure and tackle probability = deployed statistics reporting 0-1 probability. As of September 2026. Provenance: docs/winners.md + docs/history.md.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RFID equals radio-frequency identification; x and y are field coordinates in yards; s is speed; a is acceleration; dis is distance; o is orientation; dir is direction. Provenance: docs/muse-code.md and samples/2024 plus samples/2025, as of September 2026. Transition: now that the grain is clear, the first workflow explores the sample before touching full weeks. Run: uv run python scripts/explore_sample.py --data samples/2024.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first run: uv run python scripts/explore_sample.py --data samples/2024 joins tracking and metadata, prints one play frame by frame, and writes a field plot to data/scratch/. Frame rate 10 hertz confirmed from sample timestamps (0.1 s steps). Transition: once the sample query reads right, workflow 2 scales it to full weeks. Definitions: muse exec = headless one-shot command-line run (no interactive session); 22 dots + ball = 11 offensive + 11 defensive players + the football; frame = one 10 Hz snapshot, 0.1 s apart; sample = 25-play in-git slice, not the full season. Row counts verified by wc: 19,113 (2024) / 92,069 (2025). As of 2026-09-28.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weekly tracking is our biggest I/O tax, so we pay it once. Chunked reads mean a laptop never holds a full week in RAM. The rebuild-first rule is the safety story: raw data is sacred, scratch is disposable, one command reproduces everything. Transition: data is now stored efficiently, so next we build features frame-up. Run: uv run python scripts/weeks_to_parquet.py [--data samples/2024] or BDB_DATA=data/2024 uv run python scripts/weeks_to_parquet.py. Raw files read-only; data/ is gitignored; missing-data path points to data/README.md re-seed or samples/2024 slice. As of Sep 2026.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convnet equals convolutional neural network applied across frames; LightGBM and XGBoost are gradient-boosted tree libraries; formation encodings are numeric alignment features. Provenance: scripts/features_frame_up.py and docs/muse-code.md, as of September 2026. Transition: features exist, so next we set the baseline before any ensemble. Run: uv run python scripts/features_frame_up.py.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lasso-logistic equals L1-regularized logistic regression; base rates are naive benchmark frequencies; group-by-play folds keep each play intact; Optuna is a hyperparameter tuner. Provenance: scripts/baseline_lasso.py at 0.700 plus-minus 0.110 and docs/muse-code.md, as of September 2026. Transition: models are comparable, so next we package the repetition as skills. Run: uv run python scripts/baseline_lasso.py.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skill manifest equals SKILL.md prompt package; mtime is file modification timestamp; exec mode is non-interactive batch. Provenance: .agents/skills trio plus scripts/sweep_weeks.sh and scripts/guard_data.sh, as of September 2026. Transition: automation is safe, so next is what graders actually reward. Run: bash scripts/sweep_weeks.sh --dry-run; bash scripts/guard_data.sh check.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CV equals cross-validation; SE equals standard errors; Patton and Yurko are methodology references cited in docs/craft.md. Provenance: rubric 30/30/20/20 with 2000-word and sub-10-figure limits in docs/craft.md, as of September 2026. Transition: craft is covered, so next is where the 2027 topic likely goes. Run: none, this slide is a checklist.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ghost/counterfactual equals predicted defender-free paths; prediction versus metric years are alternating contest topics. Provenance: 2026 open date September 25 2025 plus docs/2027-prediction.md, as of September 2026. Transition: forecast set, now the local model that backs all of this. Run: none, watch the NFL Football Operations hub.</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30B equals 30-billion parameters; NGL is number of GPU layers; Q4_K_M is the 4-bit quantization variant; gpu_lock is the Valkey mutual-exclusion key; Valkey is a Redis-compatible store. Provenance: muse-code/glimmer/glimmer_supervisor.py and health/check.py, as of September 2026. Transition: architecture is clear, now the measured numbers. Run: curl http://127.0.0.1:8181/healthz.</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tokens/s is model throughput; mmproj is the multimodal projector mapping images into token space; bf16 is 16-bit float; VRAM is GPU memory. Provenance: NGL shootout log September 2026, 41.7s vs 186.7s vs 2m13s and vision 135.8s. Transition: numbers banked, now the take-home tips. Run: rocm-smi --showmeminfo vram during the NGL 13 pass.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TUI is the terminal user interface for interactive pairing; SKILL.md is the skill manifest path. Provenance: tips map to scripts/explore_sample.py and scripts/weeks_to_parquet.py as skills, as of September 2026. Transition: first half banked, second half is safety and scale. Run: muse init in any fresh clone.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MCP equals Model Context Protocol; /sessions and /rewind are session recovery commands; gpu_lock is the Valkey key from the Glimmer slides. Provenance: health/check.py plus glimmer_supervisor.py and the slide-scorecards workflow, as of September 2026. Transition: tips complete, closing the loop. Run: single-line copy-paste commands in each skill README.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guide README 0-130 are the companion Muse Code guide sections. Provenance: bowl repository layout docs/samples/scripts/skills as built, plus day-one plan in docs/2027-prediction.md, as of September 2026. Transition: thank the room, take questions, run the sample live. Run: uv run python scripts/explore_sample.py --data samples/2024.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1</a:t>
            </a:r>
          </a:p>
        </p:txBody>
      </p:sp>
      <p:sp>
        <p:nvSpPr>
          <p:cNvPr id="5" name="TextBox 4"/>
          <p:cNvSpPr txBox="1"/>
          <p:nvPr/>
        </p:nvSpPr>
        <p:spPr>
          <a:xfrm>
            <a:off x="640080" y="457200"/>
            <a:ext cx="10881360" cy="822960"/>
          </a:xfrm>
          <a:prstGeom prst="rect">
            <a:avLst/>
          </a:prstGeom>
          <a:noFill/>
        </p:spPr>
        <p:txBody>
          <a:bodyPr wrap="none">
            <a:spAutoFit/>
          </a:bodyPr>
          <a:lstStyle/>
          <a:p>
            <a:pPr algn="l"/>
            <a:r>
              <a:rPr b="1" sz="3200">
                <a:solidFill>
                  <a:srgbClr val="D7C7EE"/>
                </a:solidFill>
              </a:rPr>
              <a:t>Big Data Bowl meets Muse Code: NFL tracking data, worked live in the terminal</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600"/>
              </a:spcAft>
            </a:pPr>
            <a:r>
              <a:rPr sz="2000">
                <a:solidFill>
                  <a:srgbClr val="F0F0F0"/>
                </a:solidFill>
              </a:rPr>
              <a:t>The NFL Big Data Bowl is the league's annual analytics contest, run with AWS (Amazon Web Services), and this talk uses it as the vehicle.</a:t>
            </a:r>
          </a:p>
          <a:p>
            <a:pPr>
              <a:spcAft>
                <a:spcPts val="600"/>
              </a:spcAft>
            </a:pPr>
            <a:r>
              <a:rPr sz="2000">
                <a:solidFill>
                  <a:srgbClr val="F0F0F0"/>
                </a:solidFill>
              </a:rPr>
              <a:t>Muse Code is the agentic coding CLI we will drive live, and it is the instrument of the talk.</a:t>
            </a:r>
          </a:p>
          <a:p>
            <a:pPr>
              <a:spcAft>
                <a:spcPts val="600"/>
              </a:spcAft>
            </a:pPr>
            <a:r>
              <a:rPr sz="2000">
                <a:solidFill>
                  <a:srgbClr val="F0F0F0"/>
                </a:solidFill>
              </a:rPr>
              <a:t>Our raw material is NFL Next Gen Stats, the league's RFID player-and-ball tracking feed sampled at 10 frames per second.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2</a:t>
            </a:r>
          </a:p>
        </p:txBody>
      </p:sp>
      <p:sp>
        <p:nvSpPr>
          <p:cNvPr id="5" name="TextBox 4"/>
          <p:cNvSpPr txBox="1"/>
          <p:nvPr/>
        </p:nvSpPr>
        <p:spPr>
          <a:xfrm>
            <a:off x="640080" y="457200"/>
            <a:ext cx="10881360" cy="822960"/>
          </a:xfrm>
          <a:prstGeom prst="rect">
            <a:avLst/>
          </a:prstGeom>
          <a:noFill/>
        </p:spPr>
        <p:txBody>
          <a:bodyPr wrap="none">
            <a:spAutoFit/>
          </a:bodyPr>
          <a:lstStyle/>
          <a:p>
            <a:pPr algn="l"/>
            <a:r>
              <a:rPr b="1" sz="3200">
                <a:solidFill>
                  <a:srgbClr val="D7C7EE"/>
                </a:solidFill>
              </a:rPr>
              <a:t>The challenge: invent a stat good enough for live television</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600"/>
              </a:spcAft>
            </a:pPr>
            <a:r>
              <a:rPr sz="1800">
                <a:solidFill>
                  <a:srgbClr val="F0F0F0"/>
                </a:solidFill>
              </a:rPr>
              <a:t>The Big Data Bowl is the yearly analytics contest run by NFL Football Operations together with Amazon Web Services, using real player-tracking data from the league's Next Gen Stats system.</a:t>
            </a:r>
          </a:p>
          <a:p>
            <a:pPr>
              <a:spcAft>
                <a:spcPts val="600"/>
              </a:spcAft>
            </a:pPr>
            <a:r>
              <a:rPr sz="1800">
                <a:solidFill>
                  <a:srgbClr val="F0F0F0"/>
                </a:solidFill>
              </a:rPr>
              <a:t>Every tracked player is located ten times per second (10 hertz), so each play yields hundreds of position, speed, and acceleration readings for analysis.</a:t>
            </a:r>
          </a:p>
          <a:p>
            <a:pPr>
              <a:spcAft>
                <a:spcPts val="600"/>
              </a:spcAft>
            </a:pPr>
            <a:r>
              <a:rPr sz="1800">
                <a:solidFill>
                  <a:srgbClr val="F0F0F0"/>
                </a:solidFill>
              </a:rPr>
              <a:t>The winning entries become real products: past winners have gone on to appear in live television broadcasts and in the analytics dashboards used by club front offices.</a:t>
            </a:r>
          </a:p>
          <a:p>
            <a:pPr>
              <a:spcAft>
                <a:spcPts val="600"/>
              </a:spcAft>
            </a:pPr>
            <a:r>
              <a:rPr sz="1800">
                <a:solidFill>
                  <a:srgbClr val="F0F0F0"/>
                </a:solidFill>
              </a:rPr>
              <a:t>Eight editions ran from 2019 through 2026, and the 2027 edition had not been announced as of September 2026, so this entry is preparation, not a reaction to a published topic.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3</a:t>
            </a:r>
          </a:p>
        </p:txBody>
      </p:sp>
      <p:sp>
        <p:nvSpPr>
          <p:cNvPr id="5" name="TextBox 4"/>
          <p:cNvSpPr txBox="1"/>
          <p:nvPr/>
        </p:nvSpPr>
        <p:spPr>
          <a:xfrm>
            <a:off x="640080" y="457200"/>
            <a:ext cx="10881360" cy="822960"/>
          </a:xfrm>
          <a:prstGeom prst="rect">
            <a:avLst/>
          </a:prstGeom>
          <a:noFill/>
        </p:spPr>
        <p:txBody>
          <a:bodyPr wrap="none">
            <a:spAutoFit/>
          </a:bodyPr>
          <a:lstStyle/>
          <a:p>
            <a:pPr algn="l"/>
            <a:r>
              <a:rPr b="1" sz="3200">
                <a:solidFill>
                  <a:srgbClr val="D7C7EE"/>
                </a:solidFill>
              </a:rPr>
              <a:t>A $100,000 contest at NFL scale — and a hiring pipeline</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600"/>
              </a:spcAft>
            </a:pPr>
            <a:r>
              <a:rPr sz="1800">
                <a:solidFill>
                  <a:srgbClr val="F0F0F0"/>
                </a:solidFill>
              </a:rPr>
              <a:t>The 2026 contest offers a $100,000 prize pool, and its finalists present in person at the 2026 NFL Scouting Combine (per NFL Football Operations hub and AWS Sports tracks page; as of September 2025 announcements).</a:t>
            </a:r>
          </a:p>
          <a:p>
            <a:pPr>
              <a:spcAft>
                <a:spcPts val="600"/>
              </a:spcAft>
            </a:pPr>
            <a:r>
              <a:rPr sz="1800">
                <a:solidFill>
                  <a:srgbClr val="F0F0F0"/>
                </a:solidFill>
              </a:rPr>
              <a:t>The 2026 edition drew 8,329 registrations from 771 teams across 69 countries (single-sourced and provisional, summarizing the December 2025 results; treat as approximate until the NFL confirms).</a:t>
            </a:r>
          </a:p>
          <a:p>
            <a:pPr>
              <a:spcAft>
                <a:spcPts val="600"/>
              </a:spcAft>
            </a:pPr>
            <a:r>
              <a:rPr sz="1800">
                <a:solidFill>
                  <a:srgbClr val="F0F0F0"/>
                </a:solidFill>
              </a:rPr>
              <a:t>AWS (Amazon Web Services) processes more than 500 million player-tracking data points per NFL season (per the AWS Sports NFL page; figure undated, restate as 'AWS reports 500M+ per season').</a:t>
            </a:r>
          </a:p>
          <a:p>
            <a:pPr>
              <a:spcAft>
                <a:spcPts val="600"/>
              </a:spcAft>
            </a:pPr>
            <a:r>
              <a:rPr sz="1800">
                <a:solidFill>
                  <a:srgbClr val="F0F0F0"/>
                </a:solidFill>
              </a:rPr>
              <a:t>The league's pipeline already ships 75+ machine-learning (ML) statistics including rushing yards over expected, built on this tracking data (per AWS Media blog; as of the 2025-2026 partnership announcements).</a:t>
            </a:r>
          </a:p>
          <a:p>
            <a:pPr>
              <a:spcAft>
                <a:spcPts val="600"/>
              </a:spcAft>
            </a:pPr>
            <a:r>
              <a:rPr sz="1800">
                <a:solidFill>
                  <a:srgbClr val="F0F0F0"/>
                </a:solidFill>
              </a:rPr>
              <a:t>More than 50 past entrants have been hired into football analytics roles, with 30+ hired directly by teams or vendors (per September 2024 reporting plus talk notes; single-sourced — say 'reportedly' on stage).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4</a:t>
            </a:r>
          </a:p>
        </p:txBody>
      </p:sp>
      <p:sp>
        <p:nvSpPr>
          <p:cNvPr id="5" name="TextBox 4"/>
          <p:cNvSpPr txBox="1"/>
          <p:nvPr/>
        </p:nvSpPr>
        <p:spPr>
          <a:xfrm>
            <a:off x="640080" y="457200"/>
            <a:ext cx="10881360" cy="822960"/>
          </a:xfrm>
          <a:prstGeom prst="rect">
            <a:avLst/>
          </a:prstGeom>
          <a:noFill/>
        </p:spPr>
        <p:txBody>
          <a:bodyPr wrap="none">
            <a:spAutoFit/>
          </a:bodyPr>
          <a:lstStyle/>
          <a:p>
            <a:pPr algn="l"/>
            <a:r>
              <a:rPr b="1" sz="2800">
                <a:solidFill>
                  <a:srgbClr val="D7C7EE"/>
                </a:solidFill>
              </a:rPr>
              <a:t>Winning ideas reach the broadcast: from contest entry to television statistic</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600"/>
              </a:spcAft>
            </a:pPr>
            <a:r>
              <a:rPr sz="1800">
                <a:solidFill>
                  <a:srgbClr val="F0F0F0"/>
                </a:solidFill>
              </a:rPr>
              <a:t>In 2020, Philipp Singer and Dmitry Gordeev of H2O AI, competing as team the Zoo, won by predicting the full distribution of rushing yards from handoff positions and velocities, and their approach became the expected rushing yards television statistic within about six months.</a:t>
            </a:r>
          </a:p>
          <a:p>
            <a:pPr>
              <a:spcAft>
                <a:spcPts val="600"/>
              </a:spcAft>
            </a:pPr>
            <a:r>
              <a:rPr sz="1800">
                <a:solidFill>
                  <a:srgbClr val="F0F0F0"/>
                </a:solidFill>
              </a:rPr>
              <a:t>The same 2020 pipeline produced three follow-on television statistics measured in yards and probabilities from zero to one: rushing yards over expected, first-down probability, and touchdown probability.</a:t>
            </a:r>
          </a:p>
          <a:p>
            <a:pPr>
              <a:spcAft>
                <a:spcPts val="600"/>
              </a:spcAft>
            </a:pPr>
            <a:r>
              <a:rPr sz="1800">
                <a:solidFill>
                  <a:srgbClr val="F0F0F0"/>
                </a:solidFill>
              </a:rPr>
              <a:t>In 2023, the pocket-pressure contest fed the deployed pressure probability statistic, which combines four models trained over 90,000 plays.</a:t>
            </a:r>
          </a:p>
          <a:p>
            <a:pPr>
              <a:spcAft>
                <a:spcPts val="600"/>
              </a:spcAft>
            </a:pPr>
            <a:r>
              <a:rPr sz="1800">
                <a:solidFill>
                  <a:srgbClr val="F0F0F0"/>
                </a:solidFill>
              </a:rPr>
              <a:t>In 2024, the missed-tackle contest fed the deployed tackle probability statistic, which uses 20 features per defender across 11 defenders, trained on 2018 through 2022 seasons and tested on 2023.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5</a:t>
            </a:r>
          </a:p>
        </p:txBody>
      </p:sp>
      <p:sp>
        <p:nvSpPr>
          <p:cNvPr id="5" name="TextBox 4"/>
          <p:cNvSpPr txBox="1"/>
          <p:nvPr/>
        </p:nvSpPr>
        <p:spPr>
          <a:xfrm>
            <a:off x="640080" y="457200"/>
            <a:ext cx="10881360" cy="822960"/>
          </a:xfrm>
          <a:prstGeom prst="rect">
            <a:avLst/>
          </a:prstGeom>
          <a:noFill/>
        </p:spPr>
        <p:txBody>
          <a:bodyPr wrap="none">
            <a:spAutoFit/>
          </a:bodyPr>
          <a:lstStyle/>
          <a:p>
            <a:r>
              <a:t>The data: every player and the ball, ten times per second</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1000"/>
              </a:spcAft>
            </a:pPr>
            <a:r>
              <a:t>Radio-frequency identification tags sewn into shoulder pads plus a sensor ball built by Wilson feed position hardware from Zebra, and the league samples every tracked player and the ball at 10 hertz from snap to whistle.</a:t>
            </a:r>
          </a:p>
          <a:p>
            <a:pPr/>
            <a:r>
              <a:t>Each row carries field coordinates x and y in yards, speed s in yards per second, acceleration a in yards per second squared, distance traveled dis, orientation o, direction dir, the tagged event, frame identifier, and player identifier, with frame type added in the 2025 season feed.</a:t>
            </a:r>
          </a:p>
          <a:p>
            <a:pPr/>
            <a:r>
              <a:t>The join keys are game identifier, play identifier, and player identifier, and roster and game context attach through nflverse using the legacy game identifier with play identifier cast to integer (docs/muse-code.md, as of September 2026).</a:t>
            </a:r>
          </a:p>
          <a:p>
            <a:pPr/>
            <a:r>
              <a:t>Weekly comma-separated files run about 1.5 gigabytes each, so the repository seeds from a 1.6 gigabyte 2024 slice plus a 7.7 gigabyte 2025 slice and demos run on a 25-play in-git sample that answers every query in seconds.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6</a:t>
            </a:r>
          </a:p>
        </p:txBody>
      </p:sp>
      <p:sp>
        <p:nvSpPr>
          <p:cNvPr id="5" name="TextBox 4"/>
          <p:cNvSpPr txBox="1"/>
          <p:nvPr/>
        </p:nvSpPr>
        <p:spPr>
          <a:xfrm>
            <a:off x="640080" y="457200"/>
            <a:ext cx="10881360" cy="822960"/>
          </a:xfrm>
          <a:prstGeom prst="rect">
            <a:avLst/>
          </a:prstGeom>
          <a:noFill/>
        </p:spPr>
        <p:txBody>
          <a:bodyPr wrap="none">
            <a:spAutoFit/>
          </a:bodyPr>
          <a:lstStyle/>
          <a:p>
            <a:r>
              <a:t>Workflow 1: explore the sample first</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600"/>
              </a:spcAft>
            </a:pPr>
            <a:r>
              <a:rPr sz="1800">
                <a:solidFill>
                  <a:srgbClr val="F0F0F0"/>
                </a:solidFill>
              </a:rPr>
              <a:t>Start with the in-git sample slice instead of the full download: samples/2024/tracking_sample.csv holds 19,113 tracking rows across 25 plays, and samples/2025 holds 92,069 rows, so every query runs in seconds with zero download.</a:t>
            </a:r>
          </a:p>
          <a:p>
            <a:pPr>
              <a:spcAft>
                <a:spcPts val="600"/>
              </a:spcAft>
            </a:pPr>
            <a:r>
              <a:rPr sz="1800">
                <a:solidFill>
                  <a:srgbClr val="F0F0F0"/>
                </a:solidFill>
              </a:rPr>
              <a:t>The explore script joins tracking_sample.csv with games.csv, plays.csv, and players.csv on gameId, playId, and nflId, then prints one play frame by frame and plots all 22 players plus the ball.</a:t>
            </a:r>
          </a:p>
          <a:p>
            <a:pPr>
              <a:spcAft>
                <a:spcPts val="600"/>
              </a:spcAft>
            </a:pPr>
            <a:r>
              <a:rPr sz="1800">
                <a:solidFill>
                  <a:srgbClr val="F0F0F0"/>
                </a:solidFill>
              </a:rPr>
              <a:t>The narrative example is gameId 2022090800, playId 56 (Buffalo at Los Angeles, September 8 2022) with tagged events pass_arrived, pass_outcome_caught, and tackle.</a:t>
            </a:r>
          </a:p>
          <a:p>
            <a:pPr>
              <a:spcAft>
                <a:spcPts val="600"/>
              </a:spcAft>
            </a:pPr>
            <a:r>
              <a:rPr sz="1800">
                <a:solidFill>
                  <a:srgbClr val="F0F0F0"/>
                </a:solidFill>
              </a:rPr>
              <a:t>Column units are explicit: x spans 0 to 120 yards of field length, y spans 0 to 53.3 yards of width, s is yards per second, a is yards per second squared, dis is yards since the prior frame, and o and dir are 0 to 360 degrees; once the query reads right on the sample, the identical prompt is replayed headlessly with muse exec against full week files.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7</a:t>
            </a:r>
          </a:p>
        </p:txBody>
      </p:sp>
      <p:sp>
        <p:nvSpPr>
          <p:cNvPr id="5" name="TextBox 4"/>
          <p:cNvSpPr txBox="1"/>
          <p:nvPr/>
        </p:nvSpPr>
        <p:spPr>
          <a:xfrm>
            <a:off x="640080" y="457200"/>
            <a:ext cx="10881360" cy="822960"/>
          </a:xfrm>
          <a:prstGeom prst="rect">
            <a:avLst/>
          </a:prstGeom>
          <a:noFill/>
        </p:spPr>
        <p:txBody>
          <a:bodyPr wrap="none">
            <a:spAutoFit/>
          </a:bodyPr>
          <a:lstStyle/>
          <a:p>
            <a:pPr algn="l"/>
            <a:r>
              <a:rPr b="1" sz="2800">
                <a:solidFill>
                  <a:srgbClr val="D7C7EE"/>
                </a:solidFill>
              </a:rPr>
              <a:t>Workflow 2: convert weekly tracking files to Parquet once, reuse forever</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600"/>
              </a:spcAft>
            </a:pPr>
            <a:r>
              <a:rPr sz="1800">
                <a:solidFill>
                  <a:srgbClr val="F0F0F0"/>
                </a:solidFill>
              </a:rPr>
              <a:t>Weekly player-tracking files are too large to load into memory at once, so the pipeline reads them in chunks using pandas chunksize reads of 200,000 rows (or a Polars lazy scan plus sink), which keeps memory flat regardless of file size.</a:t>
            </a:r>
          </a:p>
          <a:p>
            <a:pPr>
              <a:spcAft>
                <a:spcPts val="600"/>
              </a:spcAft>
            </a:pPr>
            <a:r>
              <a:rPr sz="1800">
                <a:solidFill>
                  <a:srgbClr val="F0F0F0"/>
                </a:solidFill>
              </a:rPr>
              <a:t>Each weekly tracking file is converted to Parquet format exactly once, and every later step (features, sweeps, plots) reads the fast Parquet copy, so the conversion cost is paid one time and all downstream runs get faster.</a:t>
            </a:r>
          </a:p>
          <a:p>
            <a:pPr>
              <a:spcAft>
                <a:spcPts val="600"/>
              </a:spcAft>
            </a:pPr>
            <a:r>
              <a:rPr sz="1800">
                <a:solidFill>
                  <a:srgbClr val="F0F0F0"/>
                </a:solidFill>
              </a:rPr>
              <a:t>The rebuild script (scripts/weeks_to_parquet.py) is written before any feature code: raw comma-separated-value files stay read-only and are never overwritten, while all generated files land in the rebuildable data/scratch/ directory.</a:t>
            </a:r>
          </a:p>
          <a:p>
            <a:pPr>
              <a:spcAft>
                <a:spcPts val="600"/>
              </a:spcAft>
            </a:pPr>
            <a:r>
              <a:rPr sz="1800">
                <a:solidFill>
                  <a:srgbClr val="F0F0F0"/>
                </a:solidFill>
              </a:rPr>
              <a:t>Disk budget is about 2 gigabytes per weekly file uncompressed; the converter aggregates each file to one row per game, play, and player with mean motion columns plus frame count.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8</a:t>
            </a:r>
          </a:p>
        </p:txBody>
      </p:sp>
      <p:sp>
        <p:nvSpPr>
          <p:cNvPr id="5" name="TextBox 4"/>
          <p:cNvSpPr txBox="1"/>
          <p:nvPr/>
        </p:nvSpPr>
        <p:spPr>
          <a:xfrm>
            <a:off x="640080" y="457200"/>
            <a:ext cx="10881360" cy="822960"/>
          </a:xfrm>
          <a:prstGeom prst="rect">
            <a:avLst/>
          </a:prstGeom>
          <a:noFill/>
        </p:spPr>
        <p:txBody>
          <a:bodyPr wrap="none">
            <a:spAutoFit/>
          </a:bodyPr>
          <a:lstStyle/>
          <a:p>
            <a:r>
              <a:t>Workflow 3: build features frame by frame, from the ground up</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1000"/>
              </a:spcAft>
            </a:pPr>
            <a:r>
              <a:t>The league shape of a winning entry is frame-level features feeding per-player models that roll up to one play-level stat, so every row of tracking earns its keep instead of decorating a box-score model (docs/muse-code.md, as of September 2026).</a:t>
            </a:r>
          </a:p>
          <a:p>
            <a:pPr/>
            <a:r>
              <a:t>Base motion columns are speed, acceleration, and distance to the line of scrimmage in yards, plus numeric formation encodings that capture offensive and defensive alignment the way past winners encoded pressure-scheme context.</a:t>
            </a:r>
          </a:p>
          <a:p>
            <a:pPr/>
            <a:r>
              <a:t>The tackle-probability workhorse is a frame-by-frame convolutional network, which is a neural network swept across consecutive frames, following the 2024 winning approach trained at that granularity.</a:t>
            </a:r>
          </a:p>
          <a:p>
            <a:pPr/>
            <a:r>
              <a:t>We standardize on LightGBM over XGBoost for the tree stage because it trains faster and holds less memory on laptop-scale weekly data, with scripts/features_frame_up.py emitting a 50-row by 19-column demonstration frame.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9</a:t>
            </a:r>
          </a:p>
        </p:txBody>
      </p:sp>
      <p:sp>
        <p:nvSpPr>
          <p:cNvPr id="5" name="TextBox 4"/>
          <p:cNvSpPr txBox="1"/>
          <p:nvPr/>
        </p:nvSpPr>
        <p:spPr>
          <a:xfrm>
            <a:off x="640080" y="457200"/>
            <a:ext cx="10881360" cy="822960"/>
          </a:xfrm>
          <a:prstGeom prst="rect">
            <a:avLst/>
          </a:prstGeom>
          <a:noFill/>
        </p:spPr>
        <p:txBody>
          <a:bodyPr wrap="none">
            <a:spAutoFit/>
          </a:bodyPr>
          <a:lstStyle/>
          <a:p>
            <a:r>
              <a:t>Workflow 4: set a lasso baseline, then earn the ensemble</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1000"/>
              </a:spcAft>
            </a:pPr>
            <a:r>
              <a:t>Every modeling run starts from a lasso-logistic baseline, which is logistic regression with an L1 penalty, reported against naive base-rate frequencies with cross-validated accuracy plus standard errors, and the demo baseline scores 0.700 plus or minus 0.110 (scripts/baseline_lasso.py, as of September 2026).</a:t>
            </a:r>
          </a:p>
          <a:p>
            <a:pPr/>
            <a:r>
              <a:t>Folds are grouped by play so all frames of one play stay together, which prevents leakage where the model would otherwise train and test on adjacent frames of the same action.</a:t>
            </a:r>
          </a:p>
          <a:p>
            <a:pPr/>
            <a:r>
              <a:t>The ensemble stage tries XGBoost, LightGBM, and CatBoost with Optuna tuning, but only results that beat the baseline by more than one standard error survive, following the Yurko discipline wired into docs/muse-code.md.</a:t>
            </a:r>
          </a:p>
          <a:p>
            <a:pPr/>
            <a:r>
              <a:t>One random seed plus one frozen configuration is stored per output directory, so any two runs remain directly comparable and a rerun reproduces the same numbers.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10</a:t>
            </a:r>
          </a:p>
        </p:txBody>
      </p:sp>
      <p:sp>
        <p:nvSpPr>
          <p:cNvPr id="5" name="TextBox 4"/>
          <p:cNvSpPr txBox="1"/>
          <p:nvPr/>
        </p:nvSpPr>
        <p:spPr>
          <a:xfrm>
            <a:off x="640080" y="457200"/>
            <a:ext cx="10881360" cy="822960"/>
          </a:xfrm>
          <a:prstGeom prst="rect">
            <a:avLst/>
          </a:prstGeom>
          <a:noFill/>
        </p:spPr>
        <p:txBody>
          <a:bodyPr wrap="none">
            <a:spAutoFit/>
          </a:bodyPr>
          <a:lstStyle/>
          <a:p>
            <a:r>
              <a:t>Skills, batch sweeps, and a sandbox that guards the raw data</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1000"/>
              </a:spcAft>
            </a:pPr>
            <a:r>
              <a:t>Three reusable skills carry the repeated work: chunk-to-parquet converts weekly files, join-and-slice answers one-question cuts, and baseline-ensemble runs the model ladder, each stored as a skill manifest at dot-agents/skills/&lt;id&gt;/SKILL.md.</a:t>
            </a:r>
          </a:p>
          <a:p>
            <a:pPr/>
            <a:r>
              <a:t>The batch runner scripts/sweep_weeks.sh issues one exec-mode prompt per question across all weeks and writes one comma-separated results file plus one PNG chart per question, so an overnight sweep is reviewable by morning.</a:t>
            </a:r>
          </a:p>
          <a:p>
            <a:pPr/>
            <a:r>
              <a:t>The guard script scripts/guard_data.sh trips when raw-file modification timestamps move, and the repository rule is simple: data/ stays read-only and every generated file lands in rebuildable data/scratch/ (docs/muse-code.md, as of September 2026).</a:t>
            </a:r>
          </a:p>
          <a:p>
            <a:pPr/>
            <a:r>
              <a:t>Free review runs happen on the local Glimmer model and keeper runs burst to the Kaggle free tier at roughly 30 graphics-processor hours per week, which keeps the whole pipeline subscription-only with no per-token metering.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11</a:t>
            </a:r>
          </a:p>
        </p:txBody>
      </p:sp>
      <p:sp>
        <p:nvSpPr>
          <p:cNvPr id="5" name="TextBox 4"/>
          <p:cNvSpPr txBox="1"/>
          <p:nvPr/>
        </p:nvSpPr>
        <p:spPr>
          <a:xfrm>
            <a:off x="640080" y="457200"/>
            <a:ext cx="10881360" cy="822960"/>
          </a:xfrm>
          <a:prstGeom prst="rect">
            <a:avLst/>
          </a:prstGeom>
          <a:noFill/>
        </p:spPr>
        <p:txBody>
          <a:bodyPr wrap="none">
            <a:spAutoFit/>
          </a:bodyPr>
          <a:lstStyle/>
          <a:p>
            <a:r>
              <a:t>Craft: what the grading rubric actually rewards</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1000"/>
              </a:spcAft>
            </a:pPr>
            <a:r>
              <a:t>The rubric splits 100 points into 30 for football insight, 30 for data science, 20 for the written report, and 20 for visuals, with a 2,000-word cap and fewer than 10 figures, so every chart must argue (docs/craft.md, as of September 2026).</a:t>
            </a:r>
          </a:p>
          <a:p>
            <a:pPr/>
            <a:r>
              <a:t>Tracking data must do causal work in the entry rather than decorate a box-score argument, which is the single most common reason strong models lose.</a:t>
            </a:r>
          </a:p>
          <a:p>
            <a:pPr/>
            <a:r>
              <a:t>The Patton guidance is blunt: answer the prompt as written, remember graders work nights, and make the submission look expensive with clean tables and labeled axes.</a:t>
            </a:r>
          </a:p>
          <a:p>
            <a:pPr/>
            <a:r>
              <a:t>The Yurko discipline closes it out: report base rates, a simple baseline, cross-validation with standard errors, and downstream use of the stat over raw fit, then state limits, proofread, and conclude.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12</a:t>
            </a:r>
          </a:p>
        </p:txBody>
      </p:sp>
      <p:sp>
        <p:nvSpPr>
          <p:cNvPr id="5" name="TextBox 4"/>
          <p:cNvSpPr txBox="1"/>
          <p:nvPr/>
        </p:nvSpPr>
        <p:spPr>
          <a:xfrm>
            <a:off x="640080" y="457200"/>
            <a:ext cx="10881360" cy="822960"/>
          </a:xfrm>
          <a:prstGeom prst="rect">
            <a:avLst/>
          </a:prstGeom>
          <a:noFill/>
        </p:spPr>
        <p:txBody>
          <a:bodyPr wrap="none">
            <a:spAutoFit/>
          </a:bodyPr>
          <a:lstStyle/>
          <a:p>
            <a:r>
              <a:t>2027 forecast: where the next topic likely goes</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1000"/>
              </a:spcAft>
            </a:pPr>
            <a:r>
              <a:t>The cadence anchor is that the 2026 contest opened September 25, 2025, so with the 2027 announcement unposted as of September 2026 it could land any day and the day-one checklist in docs/2027-prediction.md starts the clock (as of September 2026).</a:t>
            </a:r>
          </a:p>
          <a:p>
            <a:pPr/>
            <a:r>
              <a:t>Contest history alternates prediction years against metric-definition years, and with recent offense-side topics banked, a defensive topic is due.</a:t>
            </a:r>
          </a:p>
          <a:p>
            <a:pPr/>
            <a:r>
              <a:t>The three most likely prompts are first ghost and counterfactual defender-free receiver paths, second the redesigned kickoff formation, and third run blocking, ranked by how much new tracking the league keeps adding.</a:t>
            </a:r>
          </a:p>
          <a:p>
            <a:pPr/>
            <a:r>
              <a:t>Winners build tooling before the topic exists, which is exactly why the parquet pipeline, feature builder, and baseline in this repository are finished ahead of the announcement.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13</a:t>
            </a:r>
          </a:p>
        </p:txBody>
      </p:sp>
      <p:sp>
        <p:nvSpPr>
          <p:cNvPr id="5" name="TextBox 4"/>
          <p:cNvSpPr txBox="1"/>
          <p:nvPr/>
        </p:nvSpPr>
        <p:spPr>
          <a:xfrm>
            <a:off x="640080" y="457200"/>
            <a:ext cx="10881360" cy="822960"/>
          </a:xfrm>
          <a:prstGeom prst="rect">
            <a:avLst/>
          </a:prstGeom>
          <a:noFill/>
        </p:spPr>
        <p:txBody>
          <a:bodyPr wrap="none">
            <a:spAutoFit/>
          </a:bodyPr>
          <a:lstStyle/>
          <a:p>
            <a:r>
              <a:t>Glimmer proof, live: a 30-billion-parameter local teammate</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1000"/>
              </a:spcAft>
            </a:pPr>
            <a:r>
              <a:t>Glimmer is a 30-billion-parameter open-weights model under Apache 2.0, distilled from Muse Spark 1.2, running on this room's rocm-aibox host with a Radeon RX 6700 XT and 12 gigabytes of video memory (as of September 2026).</a:t>
            </a:r>
          </a:p>
          <a:p>
            <a:pPr/>
            <a:r>
              <a:t>It serves an OpenAI-compatible endpoint at http://127.0.0.1:8181/v1 with a /healthz check, behind a supervisor that cold-starts in about 8 seconds and tears down after 300 idle seconds.</a:t>
            </a:r>
          </a:p>
          <a:p>
            <a:pPr/>
            <a:r>
              <a:t>The build runs 13 GPU layers with a 4,096-token context window under 4-bit Q4_K_M quantization, so the model fits the 12-gigabyte card with headroom for the multimodal projector.</a:t>
            </a:r>
          </a:p>
          <a:p>
            <a:pPr/>
            <a:r>
              <a:t>A Valkey mutual-exclusion key named gpu_lock serializes access: while held the endpoint answers HTTP 503, and after release it returns HTTP 200, which the contention demo shows live with streaming at HTTP 200 in 15 chunks over 73.5 seconds.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14</a:t>
            </a:r>
          </a:p>
        </p:txBody>
      </p:sp>
      <p:sp>
        <p:nvSpPr>
          <p:cNvPr id="5" name="TextBox 4"/>
          <p:cNvSpPr txBox="1"/>
          <p:nvPr/>
        </p:nvSpPr>
        <p:spPr>
          <a:xfrm>
            <a:off x="640080" y="457200"/>
            <a:ext cx="10881360" cy="822960"/>
          </a:xfrm>
          <a:prstGeom prst="rect">
            <a:avLst/>
          </a:prstGeom>
          <a:noFill/>
        </p:spPr>
        <p:txBody>
          <a:bodyPr wrap="none">
            <a:spAutoFit/>
          </a:bodyPr>
          <a:lstStyle/>
          <a:p>
            <a:r>
              <a:t>Live numbers: what 13 GPU layers actually buy on this card</a:t>
            </a:r>
          </a:p>
        </p:txBody>
      </p:sp>
      <p:sp>
        <p:nvSpPr>
          <p:cNvPr id="6" name="TextBox 5"/>
          <p:cNvSpPr txBox="1"/>
          <p:nvPr/>
        </p:nvSpPr>
        <p:spPr>
          <a:xfrm>
            <a:off x="640080" y="1420000"/>
            <a:ext cx="10881360" cy="5000000"/>
          </a:xfrm>
          <a:prstGeom prst="rect">
            <a:avLst/>
          </a:prstGeom>
          <a:noFill/>
        </p:spPr>
        <p:txBody>
          <a:bodyPr wrap="none">
            <a:spAutoFit/>
          </a:bodyPr>
          <a:lstStyle/>
          <a:p>
            <a:pPr>
              <a:spcAft>
                <a:spcPts val="600"/>
              </a:spcAft>
            </a:pPr>
            <a:r>
              <a:t>With 0 GPU layers in CPU-only mode the model answers a warm prompt in 41.7 seconds at 5.7 prompt tokens per second and 0.46 generated tokens per second with near-zero graphics memory, measured September 2026 on rocm-aibox.</a:t>
            </a:r>
          </a:p>
          <a:p>
            <a:pPr/>
            <a:r>
              <a:t>With 13 GPU layers in text-only mode the same prompt takes 186.7 seconds wall clock at 1.75 prompt tokens per second and 0.17 generated tokens per second holding 11.62 gigabytes, so the offload buys nothing at generation on this card because decoding is bandwidth-bound.</a:t>
            </a:r>
          </a:p>
          <a:p>
            <a:pPr/>
            <a:r>
              <a:t>The hosted counterpoint is Muse Spark over the subscription: the same review-class prompt finishes in 2 minutes 13 seconds, which is why the workflow drafts locally and promotes keepers to hosted.</a:t>
            </a:r>
          </a:p>
          <a:p>
            <a:pPr/>
            <a:r>
              <a:t>Vision lands too: a 6.5-kilobyte thumbnail returns HTTP 200 in 135.8 seconds with the multimodal projector in 16-bit float at 11.09 gigabytes, proving images work but CPU embedding is too slow for production use.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15</a:t>
            </a:r>
          </a:p>
        </p:txBody>
      </p:sp>
      <p:sp>
        <p:nvSpPr>
          <p:cNvPr id="5" name="TextBox 4"/>
          <p:cNvSpPr txBox="1"/>
          <p:nvPr/>
        </p:nvSpPr>
        <p:spPr>
          <a:xfrm>
            <a:off x="640080" y="457200"/>
            <a:ext cx="10881360" cy="822960"/>
          </a:xfrm>
          <a:prstGeom prst="rect">
            <a:avLst/>
          </a:prstGeom>
          <a:noFill/>
        </p:spPr>
        <p:txBody>
          <a:bodyPr wrap="none">
            <a:spAutoFit/>
          </a:bodyPr>
          <a:lstStyle/>
          <a:p>
            <a:r>
              <a:t>Take-home tips 1 through 5: memory, modes, and one skill per job</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1000"/>
              </a:spcAft>
            </a:pPr>
            <a:r>
              <a:t>First, run muse init so the repository's memory files persist your conventions instead of re-explaining them every session.</a:t>
            </a:r>
          </a:p>
          <a:p>
            <a:pPr/>
            <a:r>
              <a:t>Second, pair in the interactive terminal interface for exploration and switch to non-interactive exec mode for batch sweeps, because each mode bills attention differently.</a:t>
            </a:r>
          </a:p>
          <a:p>
            <a:pPr/>
            <a:r>
              <a:t>Third, pin the model per task with --model and /models, and fourth, set reasoning effort with --reasoning-effort and /effort so cheap questions stay cheap and hard proofs get the budget.</a:t>
            </a:r>
          </a:p>
          <a:p>
            <a:pPr/>
            <a:r>
              <a:t>Fifth, write one custom skill manifest per repeated job at dot-agents/skills/&lt;id&gt;/SKILL.md, and this repository already proves it: explore_sample and weeks_to_parquet both ship as skills, mapped in docs/muse-code.md as of September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16</a:t>
            </a:r>
          </a:p>
        </p:txBody>
      </p:sp>
      <p:sp>
        <p:nvSpPr>
          <p:cNvPr id="5" name="TextBox 4"/>
          <p:cNvSpPr txBox="1"/>
          <p:nvPr/>
        </p:nvSpPr>
        <p:spPr>
          <a:xfrm>
            <a:off x="640080" y="457200"/>
            <a:ext cx="10881360" cy="822960"/>
          </a:xfrm>
          <a:prstGeom prst="rect">
            <a:avLst/>
          </a:prstGeom>
          <a:noFill/>
        </p:spPr>
        <p:txBody>
          <a:bodyPr wrap="none">
            <a:spAutoFit/>
          </a:bodyPr>
          <a:lstStyle/>
          <a:p>
            <a:r>
              <a:t>Take-home tips 6 through 10: safety, recovery, and scale</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1000"/>
              </a:spcAft>
            </a:pPr>
            <a:r>
              <a:t>Sixth, wire Model Context Protocol servers read-only first so the agent can inspect production without mutating it, promoting to read-write only for deliberate steps.</a:t>
            </a:r>
          </a:p>
          <a:p>
            <a:pPr/>
            <a:r>
              <a:t>Seventh, keep the sandbox on and approve network and write actions deliberately, because reversibility is a decision not a default.</a:t>
            </a:r>
          </a:p>
          <a:p>
            <a:pPr/>
            <a:r>
              <a:t>Eighth, use /sessions plus /rewind for recovery instead of retyping lost work, since the session log already holds it.</a:t>
            </a:r>
          </a:p>
          <a:p>
            <a:pPr/>
            <a:r>
              <a:t>Ninth, fan out with the workflow tool under an evidence contract where every child returns complete, evidence, and unresolved fields, which is how this very deck was scored and fixed.</a:t>
            </a:r>
          </a:p>
          <a:p>
            <a:pPr/>
            <a:r>
              <a:t>Tenth, call the Spark API without the terminal interface when embedding it, backed locally by Glimmer on port 8181, and set spend limits on day one with the Valkey gpu_lock guarding every graphics-processor job.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17</a:t>
            </a:r>
          </a:p>
        </p:txBody>
      </p:sp>
      <p:sp>
        <p:nvSpPr>
          <p:cNvPr id="5" name="TextBox 4"/>
          <p:cNvSpPr txBox="1"/>
          <p:nvPr/>
        </p:nvSpPr>
        <p:spPr>
          <a:xfrm>
            <a:off x="640080" y="457200"/>
            <a:ext cx="10881360" cy="822960"/>
          </a:xfrm>
          <a:prstGeom prst="rect">
            <a:avLst/>
          </a:prstGeom>
          <a:noFill/>
        </p:spPr>
        <p:txBody>
          <a:bodyPr wrap="none">
            <a:spAutoFit/>
          </a:bodyPr>
          <a:lstStyle/>
          <a:p>
            <a:r>
              <a:t>Close: the competition is the vehicle, Muse Code is the instrument</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1000"/>
              </a:spcAft>
            </a:pPr>
            <a:r>
              <a:t>The bowl repository ships docs, seeded samples, runnable scripts, and skills, and the companion guide repository carries README sections 0 through 130, so a stranger can clone either and run within minutes (as of September 2026).</a:t>
            </a:r>
          </a:p>
          <a:p>
            <a:pPr/>
            <a:r>
              <a:t>The day-one play when the 2027 announcement drops is fixed: data downloads while baselines re-run from the frozen configs, per the checklist in docs/2027-prediction.md.</a:t>
            </a:r>
          </a:p>
          <a:p>
            <a:pPr/>
            <a:r>
              <a:t>That is the whole thesis in one line: the competition is the demo vehicle and Muse Code is the instrument, with Glimmer as the local section that keeps practice free.</a:t>
            </a:r>
          </a:p>
          <a:p>
            <a:pPr/>
            <a:r>
              <a:t>Start tonight with one command: uv run python scripts/explore_sample.py --data samples/2024, and the field plot in data/scratch/ is your first proof.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