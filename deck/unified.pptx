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contract: the contest is the frame, the CLI is how we work it. Say plainly: Big Data Bowl equals the NFL's annual analytics contest with AWS; Muse Code equals the agentic CLI on screen; Next Gen Stats equals RFID tracking at 10 frames per second. Then bridge: next slide states what the contest actually asks. Definitions: Big Data Bowl = NFL annual analytics contest (with AWS) - Muse Code = agentic coding CLI - Next Gen Stats = RFID tracking feed, 10 frames/sec. As of Sep 2026; 2027 edition unannounced. Provenance: docs/talk-notes.md premise; repo README: eight editions 2019-2026.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prize in plain terms: a stat you invent here can end up on live TV. Walk the four facts in order: who runs it, what the data is, where winners go, and where we stand now. Pause on the 10-hertz figure and translate it (ten snapshots per second per player). Close with the honest caveat: eight editions 2019-2026 per docs/history.md; 2027 topic unannounced as of Sep 2026 per docs/2027-prediction.md. Transition: next slide shows the scale of the tracking data. Definitions: NFL Football Operations = the league office group that runs the contest; Next Gen Stats = the league's player-tracking data system; hertz = measurements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money and the stage: $100k and a live Combine final. Then the funnel: 8,329 registrations down to hired analysts. Caveat the single-sourced registration figure on stage. Transition: scale is only interesting because winners ship to broadcast. Definitions: NFL Scouting Combine = the annual pre-draft prospect evaluation event where finalists present. Next Gen Stats = the NFL's player-tracking statistics product built with AWS. ML = machine learning. RYOE = rushing yards over expected. Provenance: docs/history.md + docs/references.md.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it matters' beat: contest entries become TV stats. Walk 2020 (Zoo to expected rushing yards in ~6 months), then 2023 pressure and 2024 tackle probability with their training scale. Transition: that pipeline runs on the tracking feed, which the next slide specs. Definitions: the Zoo = 2020 winning team (Singer + Gordeev, H2O AI); RYOE = rushing yards over expected, in yards; TD = touchdown; pressure and tackle probability = deployed statistics reporting 0-1 probability. As of September 2026. Provenance: docs/winners.md + docs/history.md.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RFID equals radio-frequency identification; x and y are field coordinates in yards; s is speed; a is acceleration; dis is distance; o is orientation; dir is direction. Provenance: docs/muse-code.md and samples/2024 plus samples/2025, as of September 2026. Transition: now that the grain is clear, the first workflow explores the sample before touching full weeks. Run: uv run python scripts/explore_sample.py --data samples/2024.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first run: uv run python scripts/explore_sample.py --data samples/2024 joins tracking and metadata, prints one play frame by frame, and writes a field plot to data/scratch/. Frame rate 10 hertz confirmed from sample timestamps (0.1 s steps). Transition: once the sample query reads right, workflow 2 scales it to full weeks. Definitions: muse exec = headless one-shot command-line run (no interactive session); 22 dots + ball = 11 offensive + 11 defensive players + the football; frame = one 10 Hz snapshot, 0.1 s apart; sample = 25-play in-git slice, not the full season. Row counts verified by wc: 19,113 (2024) / 92,069 (2025). As of 2026-09-28.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weekly tracking is our biggest I/O tax, so we pay it once. Chunked reads mean a laptop never holds a full week in RAM. The rebuild-first rule is the safety story: raw data is sacred, scratch is disposable, one command reproduces everything. Transition: data is now stored efficiently, so next we build features frame-up. Run: uv run python scripts/weeks_to_parquet.py [--data samples/2024] or BDB_DATA=data/2024 uv run python scripts/weeks_to_parquet.py. Raw files read-only; data/ is gitignored; missing-data path points to data/README.md re-seed or samples/2024 slice. As of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convnet equals convolutional neural network applied across frames; LightGBM and XGBoost are gradient-boosted tree libraries; formation encodings are numeric alignment features. Provenance: scripts/features_frame_up.py and docs/muse-code.md, as of September 2026. Transition: features exist, so next we set the baseline before any ensemble. Run: uv run python scripts/features_frame_up.py.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lasso-logistic equals L1-regularized logistic regression; base rates are naive benchmark frequencies; group-by-play folds keep each play intact; Optuna is a hyperparameter tuner. Provenance: scripts/baseline_lasso.py at 0.700 plus-minus 0.110 and docs/muse-code.md, as of September 2026. Transition: models are comparable, so next we package the repetition as skills. Run: uv run python scripts/baseline_lasso.py.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skill manifest equals SKILL.md prompt package; mtime is file modification timestamp; exec mode is non-interactive batch. Provenance: .agents/skills trio plus scripts/sweep_weeks.sh and scripts/guard_data.sh, as of September 2026. Transition: automation is safe, so next is what graders actually reward. Run: bash scripts/sweep_weeks.sh --dry-run; bash scripts/guard_data.sh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CV equals cross-validation; SE equals standard errors; Patton and Yurko are methodology references cited in docs/craft.md. Provenance: rubric 30/30/20/20 with 2000-word and sub-10-figure limits in docs/craft.md, as of September 2026. Transition: craft is covered, so next is where the 2027 topic likely goes. Run: none, this slide is a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ghost/counterfactual equals predicted defender-free paths; prediction versus metric years are alternating contest topics. Provenance: 2026 open date September 25 2025 plus docs/2027-prediction.md, as of September 2026. Transition: forecast set, now the local model that backs all of this. Run: none, watch the NFL Football Operations hub.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30B equals 30-billion parameters; NGL is number of GPU layers; Q4_K_M is the 4-bit quantization variant; gpu_lock is the Valkey mutual-exclusion key; Valkey is a Redis-compatible store. Provenance: muse-code/glimmer/glimmer_supervisor.py and health/check.py, as of September 2026. Transition: architecture is clear, now the measured numbers. Run: curl http://127.0.0.1:8181/healthz.</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tokens/s is model throughput; mmproj is the multimodal projector mapping images into token space; bf16 is 16-bit float; VRAM is GPU memory. Provenance: NGL shootout log September 2026, 41.7s vs 186.7s vs 2m13s and vision 135.8s. Transition: numbers banked, now the take-home tips. Run: rocm-smi --showmeminfo vram during the NGL 13 pass.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TUI is the terminal user interface for interactive pairing; SKILL.md is the skill manifest path. Provenance: tips map to scripts/explore_sample.py and scripts/weeks_to_parquet.py as skills, as of September 2026. Transition: first half banked, second half is safety and scale. Run: muse init in any fresh clone.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MCP equals Model Context Protocol; /sessions and /rewind are session recovery commands; gpu_lock is the Valkey key from the Glimmer slides. Provenance: health/check.py plus glimmer_supervisor.py and the slide-scorecards workflow, as of September 2026. Transition: tips complete, closing the loop. Run: single-line copy-paste commands in each skill README.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guide README 0-130 are the companion Muse Code guide sections. Provenance: bowl repository layout docs/samples/scripts/skills as built, plus day-one plan in docs/2027-prediction.md, as of September 2026. Transition: thank the room, take questions, run the sample live. Run: uv run python scripts/explore_sample.py --data samples/2024.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a:t>
            </a:r>
          </a:p>
        </p:txBody>
      </p:sp>
      <p:sp>
        <p:nvSpPr>
          <p:cNvPr id="5" name="TextBox 4"/>
          <p:cNvSpPr txBox="1"/>
          <p:nvPr/>
        </p:nvSpPr>
        <p:spPr>
          <a:xfrm>
            <a:off x="640080" y="457200"/>
            <a:ext cx="10881360" cy="822960"/>
          </a:xfrm>
          <a:prstGeom prst="rect">
            <a:avLst/>
          </a:prstGeom>
          <a:noFill/>
        </p:spPr>
        <p:txBody>
          <a:bodyPr wrap="none">
            <a:spAutoFit/>
          </a:bodyPr>
          <a:lstStyle/>
          <a:p>
            <a:r>
              <a:rPr sz="2800"/>
              <a:t>Big Data Bowl meets Muse Code: NFL tracking data, worked live in the terminal</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NFL Big Data Bowl is the league's annual analytics contest, run with Amazon Web Services, and this talk uses it as the vehicle.</a:t>
            </a:r>
          </a:p>
          <a:p>
            <a:pPr>
              <a:spcAft>
                <a:spcPts val="1200"/>
              </a:spcAft>
            </a:pPr>
            <a:r>
              <a:rPr sz="1800"/>
              <a:t>Muse Code is the agentic coding CLI we drive live on screen, and it is the instrument.</a:t>
            </a:r>
          </a:p>
          <a:p>
            <a:pPr>
              <a:spcAft>
                <a:spcPts val="1200"/>
              </a:spcAft>
            </a:pPr>
            <a:r>
              <a:rPr sz="1800"/>
              <a:t>Our raw material is Next Gen Stats: league tracking data for every player and the ball, sampled ten times per 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2</a:t>
            </a:r>
          </a:p>
        </p:txBody>
      </p:sp>
      <p:sp>
        <p:nvSpPr>
          <p:cNvPr id="5" name="TextBox 4"/>
          <p:cNvSpPr txBox="1"/>
          <p:nvPr/>
        </p:nvSpPr>
        <p:spPr>
          <a:xfrm>
            <a:off x="640080" y="457200"/>
            <a:ext cx="10881360" cy="822960"/>
          </a:xfrm>
          <a:prstGeom prst="rect">
            <a:avLst/>
          </a:prstGeom>
          <a:noFill/>
        </p:spPr>
        <p:txBody>
          <a:bodyPr wrap="none">
            <a:spAutoFit/>
          </a:bodyPr>
          <a:lstStyle/>
          <a:p>
            <a:r>
              <a:rPr sz="2800"/>
              <a:t>The challenge: invent a stat good enough for live television</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Big Data Bowl is the yearly contest run by NFL Football Operations with Amazon Web Services, using real player-tracking data from Next Gen Stats.</a:t>
            </a:r>
          </a:p>
          <a:p>
            <a:pPr>
              <a:spcAft>
                <a:spcPts val="1200"/>
              </a:spcAft>
            </a:pPr>
            <a:r>
              <a:rPr sz="1800"/>
              <a:t>Every tracked player is located ten times per second, so each play yields hundreds of position, speed, and acceleration readings.</a:t>
            </a:r>
          </a:p>
          <a:p>
            <a:pPr>
              <a:spcAft>
                <a:spcPts val="1200"/>
              </a:spcAft>
            </a:pPr>
            <a:r>
              <a:rPr sz="1800"/>
              <a:t>Winners become real products: past entries now appear in live broadcasts and club front-office dashboards.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3</a:t>
            </a:r>
          </a:p>
        </p:txBody>
      </p:sp>
      <p:sp>
        <p:nvSpPr>
          <p:cNvPr id="5" name="TextBox 4"/>
          <p:cNvSpPr txBox="1"/>
          <p:nvPr/>
        </p:nvSpPr>
        <p:spPr>
          <a:xfrm>
            <a:off x="640080" y="457200"/>
            <a:ext cx="10881360" cy="822960"/>
          </a:xfrm>
          <a:prstGeom prst="rect">
            <a:avLst/>
          </a:prstGeom>
          <a:noFill/>
        </p:spPr>
        <p:txBody>
          <a:bodyPr wrap="none">
            <a:spAutoFit/>
          </a:bodyPr>
          <a:lstStyle/>
          <a:p>
            <a:r>
              <a:rPr sz="2800"/>
              <a:t>A $100,000 contest at NFL scale, and a hiring pipeline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2026 contest offered a $100,000 prize pool with finalists presenting at the Scouting Combine, and drew a reported 8,329 registrations from 771 teams across 69 countries.</a:t>
            </a:r>
          </a:p>
          <a:p>
            <a:pPr>
              <a:spcAft>
                <a:spcPts val="1200"/>
              </a:spcAft>
            </a:pPr>
            <a:r>
              <a:rPr sz="1800"/>
              <a:t>Amazon Web Services reports processing over 500 million tracking data points per season, feeding 75-plus machine-learning statistics including rushing yards over expected.</a:t>
            </a:r>
          </a:p>
          <a:p>
            <a:pPr>
              <a:spcAft>
                <a:spcPts val="1200"/>
              </a:spcAft>
            </a:pPr>
            <a:r>
              <a:rPr sz="1800"/>
              <a:t>More than 50 past entrants were reportedly hired into football analytics roles, over 30 by teams or vendors directly.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4</a:t>
            </a:r>
          </a:p>
        </p:txBody>
      </p:sp>
      <p:sp>
        <p:nvSpPr>
          <p:cNvPr id="5" name="TextBox 4"/>
          <p:cNvSpPr txBox="1"/>
          <p:nvPr/>
        </p:nvSpPr>
        <p:spPr>
          <a:xfrm>
            <a:off x="640080" y="457200"/>
            <a:ext cx="10881360" cy="822960"/>
          </a:xfrm>
          <a:prstGeom prst="rect">
            <a:avLst/>
          </a:prstGeom>
          <a:noFill/>
        </p:spPr>
        <p:txBody>
          <a:bodyPr wrap="none">
            <a:spAutoFit/>
          </a:bodyPr>
          <a:lstStyle/>
          <a:p>
            <a:r>
              <a:rPr sz="2800"/>
              <a:t>Winning ideas reach the broadcast: from entry to television statistic</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In 2020, team the Zoo won by predicting the full distribution of rushing yards from handoff positions and velocities, and their approach became the expected rushing yards TV stat within about six months.</a:t>
            </a:r>
          </a:p>
          <a:p>
            <a:pPr>
              <a:spcAft>
                <a:spcPts val="1200"/>
              </a:spcAft>
            </a:pPr>
            <a:r>
              <a:rPr sz="1800"/>
              <a:t>The same pipeline produced rushing yards over expected, first-down probability, and touchdown probability.</a:t>
            </a:r>
          </a:p>
          <a:p>
            <a:pPr>
              <a:spcAft>
                <a:spcPts val="1200"/>
              </a:spcAft>
            </a:pPr>
            <a:r>
              <a:rPr sz="1800"/>
              <a:t>The 2023 pocket-pressure contest fed deployed pressure probability trained over 90,000 plays, and the 2024 contest fed tackle probability using 20 features per defender across 11 defenders.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5</a:t>
            </a:r>
          </a:p>
        </p:txBody>
      </p:sp>
      <p:sp>
        <p:nvSpPr>
          <p:cNvPr id="5" name="TextBox 4"/>
          <p:cNvSpPr txBox="1"/>
          <p:nvPr/>
        </p:nvSpPr>
        <p:spPr>
          <a:xfrm>
            <a:off x="640080" y="457200"/>
            <a:ext cx="10881360" cy="822960"/>
          </a:xfrm>
          <a:prstGeom prst="rect">
            <a:avLst/>
          </a:prstGeom>
          <a:noFill/>
        </p:spPr>
        <p:txBody>
          <a:bodyPr wrap="none">
            <a:spAutoFit/>
          </a:bodyPr>
          <a:lstStyle/>
          <a:p>
            <a:r>
              <a:rPr sz="2800"/>
              <a:t>The data: every player and the ball, ten times per second</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Radio-frequency identification tags in shoulder pads plus a Wilson sensor ball feed Zebra position hardware, sampling every player and the ball at 10 hertz from snap to whistle.</a:t>
            </a:r>
          </a:p>
          <a:p>
            <a:pPr>
              <a:spcAft>
                <a:spcPts val="1200"/>
              </a:spcAft>
            </a:pPr>
            <a:r>
              <a:rPr sz="1800"/>
              <a:t>Each row carries field coordinates x and y in yards, speed, acceleration, distance, orientation, direction, the tagged event, and frame, play, and player identifiers.</a:t>
            </a:r>
          </a:p>
          <a:p>
            <a:pPr>
              <a:spcAft>
                <a:spcPts val="1200"/>
              </a:spcAft>
            </a:pPr>
            <a:r>
              <a:rPr sz="1800"/>
              <a:t>Weeks arrive as comma-separated files near 1.5 gigabytes each, so demos run on a 25-play in-git sample that answers every query in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6</a:t>
            </a:r>
          </a:p>
        </p:txBody>
      </p:sp>
      <p:sp>
        <p:nvSpPr>
          <p:cNvPr id="5" name="TextBox 4"/>
          <p:cNvSpPr txBox="1"/>
          <p:nvPr/>
        </p:nvSpPr>
        <p:spPr>
          <a:xfrm>
            <a:off x="640080" y="457200"/>
            <a:ext cx="10881360" cy="822960"/>
          </a:xfrm>
          <a:prstGeom prst="rect">
            <a:avLst/>
          </a:prstGeom>
          <a:noFill/>
        </p:spPr>
        <p:txBody>
          <a:bodyPr wrap="none">
            <a:spAutoFit/>
          </a:bodyPr>
          <a:lstStyle/>
          <a:p>
            <a:r>
              <a:rPr sz="2800"/>
              <a:t>Workflow 1: Explore the sample first</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sample slice samples/2024/tracking_sample.csv holds 19,113 tracking rows across 25 plays, so every query runs in seconds with zero download.</a:t>
            </a:r>
          </a:p>
          <a:p>
            <a:pPr>
              <a:spcAft>
                <a:spcPts val="1200"/>
              </a:spcAft>
            </a:pPr>
            <a:r>
              <a:rPr sz="1800"/>
              <a:t>The explore script joins tracking with games, plays, and players on game, play, and player identifiers, then prints one play frame by frame and plots all 22 players plus the ball.</a:t>
            </a:r>
          </a:p>
          <a:p>
            <a:pPr>
              <a:spcAft>
                <a:spcPts val="1200"/>
              </a:spcAft>
            </a:pPr>
            <a:r>
              <a:rPr sz="1800"/>
              <a:t>Column units are explicit: x spans 0 to 120 yards, y spans 0 to 53.3, speed and acceleration are per-second, orientation is 0 to 360 degrees.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7</a:t>
            </a:r>
          </a:p>
        </p:txBody>
      </p:sp>
      <p:sp>
        <p:nvSpPr>
          <p:cNvPr id="5" name="TextBox 4"/>
          <p:cNvSpPr txBox="1"/>
          <p:nvPr/>
        </p:nvSpPr>
        <p:spPr>
          <a:xfrm>
            <a:off x="640080" y="457200"/>
            <a:ext cx="10881360" cy="822960"/>
          </a:xfrm>
          <a:prstGeom prst="rect">
            <a:avLst/>
          </a:prstGeom>
          <a:noFill/>
        </p:spPr>
        <p:txBody>
          <a:bodyPr wrap="none">
            <a:spAutoFit/>
          </a:bodyPr>
          <a:lstStyle/>
          <a:p>
            <a:r>
              <a:rPr sz="2800"/>
              <a:t>Workflow 2: Convert weekly files to Parquet once, reuse forever</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Weekly tracking files are too large to hold in memory, so the pipeline reads them in chunks of 200,000 rows, keeping memory flat regardless of file size.</a:t>
            </a:r>
          </a:p>
          <a:p>
            <a:pPr>
              <a:spcAft>
                <a:spcPts val="1200"/>
              </a:spcAft>
            </a:pPr>
            <a:r>
              <a:rPr sz="1800"/>
              <a:t>Each week converts to Parquet format exactly once, and every later step reads the fast copy, so the cost is paid one time and all downstream runs speed up.</a:t>
            </a:r>
          </a:p>
          <a:p>
            <a:pPr>
              <a:spcAft>
                <a:spcPts val="1200"/>
              </a:spcAft>
            </a:pPr>
            <a:r>
              <a:rPr sz="1800"/>
              <a:t>Raw files stay read-only and are never overwritten, while everything generated lands in the rebuildable data/scratch/ directory.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8</a:t>
            </a:r>
          </a:p>
        </p:txBody>
      </p:sp>
      <p:sp>
        <p:nvSpPr>
          <p:cNvPr id="5" name="TextBox 4"/>
          <p:cNvSpPr txBox="1"/>
          <p:nvPr/>
        </p:nvSpPr>
        <p:spPr>
          <a:xfrm>
            <a:off x="640080" y="457200"/>
            <a:ext cx="10881360" cy="822960"/>
          </a:xfrm>
          <a:prstGeom prst="rect">
            <a:avLst/>
          </a:prstGeom>
          <a:noFill/>
        </p:spPr>
        <p:txBody>
          <a:bodyPr wrap="none">
            <a:spAutoFit/>
          </a:bodyPr>
          <a:lstStyle/>
          <a:p>
            <a:r>
              <a:rPr sz="2800"/>
              <a:t>Workflow 3: Build features frame by frame, from the ground up</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A winning entry is frame-level features feeding per-player models that roll up to one play-level stat, so every tracking row earns its keep.</a:t>
            </a:r>
          </a:p>
          <a:p>
            <a:pPr>
              <a:spcAft>
                <a:spcPts val="1200"/>
              </a:spcAft>
            </a:pPr>
            <a:r>
              <a:rPr sz="1800"/>
              <a:t>Base columns are speed, acceleration, and distance to the line in yards, plus numeric formation encodings for offensive and defensive alignment.</a:t>
            </a:r>
          </a:p>
          <a:p>
            <a:pPr>
              <a:spcAft>
                <a:spcPts val="1200"/>
              </a:spcAft>
            </a:pPr>
            <a:r>
              <a:rPr sz="1800"/>
              <a:t>The tackle-probability workhorse is a frame-by-frame convolutional network, and the tree stage standardizes on LightGBM over XGBoost for speed and memory.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9</a:t>
            </a:r>
          </a:p>
        </p:txBody>
      </p:sp>
      <p:sp>
        <p:nvSpPr>
          <p:cNvPr id="5" name="TextBox 4"/>
          <p:cNvSpPr txBox="1"/>
          <p:nvPr/>
        </p:nvSpPr>
        <p:spPr>
          <a:xfrm>
            <a:off x="640080" y="457200"/>
            <a:ext cx="10881360" cy="822960"/>
          </a:xfrm>
          <a:prstGeom prst="rect">
            <a:avLst/>
          </a:prstGeom>
          <a:noFill/>
        </p:spPr>
        <p:txBody>
          <a:bodyPr wrap="none">
            <a:spAutoFit/>
          </a:bodyPr>
          <a:lstStyle/>
          <a:p>
            <a:r>
              <a:rPr sz="2800"/>
              <a:t>Workflow 4: Set a lasso baseline, then earn the ensemble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Every run starts from a lasso-logistic baseline scored against naive base rates with cross-validated accuracy plus errors: the demo scores 0.700 plus or minus 0.110.</a:t>
            </a:r>
          </a:p>
          <a:p>
            <a:pPr>
              <a:spcAft>
                <a:spcPts val="1200"/>
              </a:spcAft>
            </a:pPr>
            <a:r>
              <a:rPr sz="1800"/>
              <a:t>Folds are grouped by play so all frames of one play stay together, preventing leakage between adjacent frames of the same action.</a:t>
            </a:r>
          </a:p>
          <a:p>
            <a:pPr>
              <a:spcAft>
                <a:spcPts val="1200"/>
              </a:spcAft>
            </a:pPr>
            <a:r>
              <a:rPr sz="1800"/>
              <a:t>The ensemble tries XGBoost, LightGBM, and CatBoost, but only results beating the baseline by a full standard error survive, with one frozen seed and config per output directory.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10</a:t>
            </a:r>
          </a:p>
        </p:txBody>
      </p:sp>
      <p:sp>
        <p:nvSpPr>
          <p:cNvPr id="5" name="TextBox 4"/>
          <p:cNvSpPr txBox="1"/>
          <p:nvPr/>
        </p:nvSpPr>
        <p:spPr>
          <a:xfrm>
            <a:off x="640080" y="457200"/>
            <a:ext cx="10881360" cy="822960"/>
          </a:xfrm>
          <a:prstGeom prst="rect">
            <a:avLst/>
          </a:prstGeom>
          <a:noFill/>
        </p:spPr>
        <p:txBody>
          <a:bodyPr wrap="none">
            <a:spAutoFit/>
          </a:bodyPr>
          <a:lstStyle/>
          <a:p>
            <a:r>
              <a:rPr sz="2800"/>
              <a:t>Skills, batch sweeps, and a sandbox that guards the raw data</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Three reusable skills carry the repeated work: chunk-to-parquet converts weeks, join-and-slice answers one-question cuts, and baseline-ensemble runs the model ladder.</a:t>
            </a:r>
          </a:p>
          <a:p>
            <a:pPr>
              <a:spcAft>
                <a:spcPts val="1200"/>
              </a:spcAft>
            </a:pPr>
            <a:r>
              <a:rPr sz="1800"/>
              <a:t>The batch runner issues one headless prompt per question across all weeks, writing one results file plus one chart per question for morning review.</a:t>
            </a:r>
          </a:p>
          <a:p>
            <a:pPr>
              <a:spcAft>
                <a:spcPts val="1200"/>
              </a:spcAft>
            </a:pPr>
            <a:r>
              <a:rPr sz="1800"/>
              <a:t>A guard script trips when raw-file timestamps move, data/ stays read-only, and free review runs happen on the local Glimmer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11</a:t>
            </a:r>
          </a:p>
        </p:txBody>
      </p:sp>
      <p:sp>
        <p:nvSpPr>
          <p:cNvPr id="5" name="TextBox 4"/>
          <p:cNvSpPr txBox="1"/>
          <p:nvPr/>
        </p:nvSpPr>
        <p:spPr>
          <a:xfrm>
            <a:off x="640080" y="457200"/>
            <a:ext cx="10881360" cy="822960"/>
          </a:xfrm>
          <a:prstGeom prst="rect">
            <a:avLst/>
          </a:prstGeom>
          <a:noFill/>
        </p:spPr>
        <p:txBody>
          <a:bodyPr wrap="none">
            <a:spAutoFit/>
          </a:bodyPr>
          <a:lstStyle/>
          <a:p>
            <a:r>
              <a:rPr sz="2800"/>
              <a:t>Craft: what the grading rubric actually rewards</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rubric splits 100 points into 30 for football insight, 30 for data science, 20 for the report, and 20 for visuals, capped at 2,000 words and under 10 figures.</a:t>
            </a:r>
          </a:p>
          <a:p>
            <a:pPr>
              <a:spcAft>
                <a:spcPts val="1200"/>
              </a:spcAft>
            </a:pPr>
            <a:r>
              <a:rPr sz="1800"/>
              <a:t>Tracking data must do causal work in the entry, not decorate a box-score argument: that is the most common way strong models lose.</a:t>
            </a:r>
          </a:p>
          <a:p>
            <a:pPr>
              <a:spcAft>
                <a:spcPts val="1200"/>
              </a:spcAft>
            </a:pPr>
            <a:r>
              <a:rPr sz="1800"/>
              <a:t>Answer the prompt as written, report base rates with a simple baseline plus errors, state limits, and make it look expensive.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12</a:t>
            </a:r>
          </a:p>
        </p:txBody>
      </p:sp>
      <p:sp>
        <p:nvSpPr>
          <p:cNvPr id="5" name="TextBox 4"/>
          <p:cNvSpPr txBox="1"/>
          <p:nvPr/>
        </p:nvSpPr>
        <p:spPr>
          <a:xfrm>
            <a:off x="640080" y="457200"/>
            <a:ext cx="10881360" cy="822960"/>
          </a:xfrm>
          <a:prstGeom prst="rect">
            <a:avLst/>
          </a:prstGeom>
          <a:noFill/>
        </p:spPr>
        <p:txBody>
          <a:bodyPr wrap="none">
            <a:spAutoFit/>
          </a:bodyPr>
          <a:lstStyle/>
          <a:p>
            <a:r>
              <a:rPr sz="2800"/>
              <a:t>2027 forecast: where the next topic likely goes</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2026 contest opened September 25, 2025, so with 2027 unannounced as of September 2026 it could land any day, and the day-one checklist is already written.</a:t>
            </a:r>
          </a:p>
          <a:p>
            <a:pPr>
              <a:spcAft>
                <a:spcPts val="1200"/>
              </a:spcAft>
            </a:pPr>
            <a:r>
              <a:rPr sz="1800"/>
              <a:t>History alternates prediction years with metric-definition years, and with offense topics banked, a defensive topic is due.</a:t>
            </a:r>
          </a:p>
          <a:p>
            <a:pPr>
              <a:spcAft>
                <a:spcPts val="1200"/>
              </a:spcAft>
            </a:pPr>
            <a:r>
              <a:rPr sz="1800"/>
              <a:t>Most likely: ghost counterfactual receiver paths, the redesigned kickoff, or run blocking. Winners build tooling before the topic exists.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13</a:t>
            </a:r>
          </a:p>
        </p:txBody>
      </p:sp>
      <p:sp>
        <p:nvSpPr>
          <p:cNvPr id="5" name="TextBox 4"/>
          <p:cNvSpPr txBox="1"/>
          <p:nvPr/>
        </p:nvSpPr>
        <p:spPr>
          <a:xfrm>
            <a:off x="640080" y="457200"/>
            <a:ext cx="10881360" cy="822960"/>
          </a:xfrm>
          <a:prstGeom prst="rect">
            <a:avLst/>
          </a:prstGeom>
          <a:noFill/>
        </p:spPr>
        <p:txBody>
          <a:bodyPr wrap="none">
            <a:spAutoFit/>
          </a:bodyPr>
          <a:lstStyle/>
          <a:p>
            <a:r>
              <a:rPr sz="2800"/>
              <a:t>Glimmer proof, live: a 30-billion-parameter local teammate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Glimmer is a 30-billion-parameter open-weights model distilled from Muse Spark, running on a single workstation with a 12-gigabyte graphics card.</a:t>
            </a:r>
          </a:p>
          <a:p>
            <a:pPr>
              <a:spcAft>
                <a:spcPts val="1200"/>
              </a:spcAft>
            </a:pPr>
            <a:r>
              <a:rPr sz="1800"/>
              <a:t>It serves an OpenAI-compatible endpoint behind a supervisor that cold-starts in about 8 seconds and tears down after 300 idle seconds.</a:t>
            </a:r>
          </a:p>
          <a:p>
            <a:pPr>
              <a:spcAft>
                <a:spcPts val="1200"/>
              </a:spcAft>
            </a:pPr>
            <a:r>
              <a:rPr sz="1800"/>
              <a:t>Thirteen GPU layers with a 4,096-token window fit the card, and a mutual-exclusion key serializes access: locked answers HTTP 503, free answers 200.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14</a:t>
            </a:r>
          </a:p>
        </p:txBody>
      </p:sp>
      <p:sp>
        <p:nvSpPr>
          <p:cNvPr id="5" name="TextBox 4"/>
          <p:cNvSpPr txBox="1"/>
          <p:nvPr/>
        </p:nvSpPr>
        <p:spPr>
          <a:xfrm>
            <a:off x="640080" y="457200"/>
            <a:ext cx="10881360" cy="822960"/>
          </a:xfrm>
          <a:prstGeom prst="rect">
            <a:avLst/>
          </a:prstGeom>
          <a:noFill/>
        </p:spPr>
        <p:txBody>
          <a:bodyPr wrap="none">
            <a:spAutoFit/>
          </a:bodyPr>
          <a:lstStyle/>
          <a:p>
            <a:r>
              <a:rPr sz="2800"/>
              <a:t>Live numbers: what 13 GPU layers actually buy on this card</a:t>
            </a:r>
          </a:p>
        </p:txBody>
      </p:sp>
      <p:sp>
        <p:nvSpPr>
          <p:cNvPr id="6" name="TextBox 5"/>
          <p:cNvSpPr txBox="1"/>
          <p:nvPr/>
        </p:nvSpPr>
        <p:spPr>
          <a:xfrm>
            <a:off x="640080" y="1420000"/>
            <a:ext cx="10881360" cy="5000000"/>
          </a:xfrm>
          <a:prstGeom prst="rect">
            <a:avLst/>
          </a:prstGeom>
          <a:noFill/>
        </p:spPr>
        <p:txBody>
          <a:bodyPr wrap="none">
            <a:spAutoFit/>
          </a:bodyPr>
          <a:lstStyle/>
          <a:p>
            <a:pPr>
              <a:spcAft>
                <a:spcPts val="1200"/>
              </a:spcAft>
            </a:pPr>
            <a:r>
              <a:rPr sz="1800"/>
              <a:t>CPU-only mode answers a warm prompt in 41.7 seconds at 5.7 prompt tokens per second, holding near-zero graphics memory.</a:t>
            </a:r>
          </a:p>
          <a:p>
            <a:pPr>
              <a:spcAft>
                <a:spcPts val="1200"/>
              </a:spcAft>
            </a:pPr>
            <a:r>
              <a:rPr sz="1800"/>
              <a:t>With 13 GPU layers the same prompt takes 186.7 seconds at 1.75 tokens per second holding 11.62 gigabytes: the offload buys nothing at generation because decoding is bandwidth-bound.</a:t>
            </a:r>
          </a:p>
          <a:p>
            <a:pPr>
              <a:spcAft>
                <a:spcPts val="1200"/>
              </a:spcAft>
            </a:pPr>
            <a:r>
              <a:rPr sz="1800"/>
              <a:t>The hosted counterpoint finishes the same review in 2 minutes 13 seconds, so the workflow drafts locally and promotes keepers. Vision works too at 135.8 seconds per thumbnail, but too slow for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15</a:t>
            </a:r>
          </a:p>
        </p:txBody>
      </p:sp>
      <p:sp>
        <p:nvSpPr>
          <p:cNvPr id="5" name="TextBox 4"/>
          <p:cNvSpPr txBox="1"/>
          <p:nvPr/>
        </p:nvSpPr>
        <p:spPr>
          <a:xfrm>
            <a:off x="640080" y="457200"/>
            <a:ext cx="10881360" cy="822960"/>
          </a:xfrm>
          <a:prstGeom prst="rect">
            <a:avLst/>
          </a:prstGeom>
          <a:noFill/>
        </p:spPr>
        <p:txBody>
          <a:bodyPr wrap="none">
            <a:spAutoFit/>
          </a:bodyPr>
          <a:lstStyle/>
          <a:p>
            <a:r>
              <a:rPr sz="2800"/>
              <a:t>Take-home tips 1 through 5: memory, modes, and one skill per job</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Run muse init so repository memory persists your conventions instead of re-explaining them every session.</a:t>
            </a:r>
          </a:p>
          <a:p>
            <a:pPr>
              <a:spcAft>
                <a:spcPts val="1200"/>
              </a:spcAft>
            </a:pPr>
            <a:r>
              <a:rPr sz="1800"/>
              <a:t>Pair in the interactive terminal for exploration and switch to headless exec mode for batch sweeps.</a:t>
            </a:r>
          </a:p>
          <a:p>
            <a:pPr>
              <a:spcAft>
                <a:spcPts val="1200"/>
              </a:spcAft>
            </a:pPr>
            <a:r>
              <a:rPr sz="1800"/>
              <a:t>Pin the model per task, set reasoning effort so cheap questions stay cheap, and write one skill manifest per repeated job: explore and parquet conversion both ship as skills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16</a:t>
            </a:r>
          </a:p>
        </p:txBody>
      </p:sp>
      <p:sp>
        <p:nvSpPr>
          <p:cNvPr id="5" name="TextBox 4"/>
          <p:cNvSpPr txBox="1"/>
          <p:nvPr/>
        </p:nvSpPr>
        <p:spPr>
          <a:xfrm>
            <a:off x="640080" y="457200"/>
            <a:ext cx="10881360" cy="822960"/>
          </a:xfrm>
          <a:prstGeom prst="rect">
            <a:avLst/>
          </a:prstGeom>
          <a:noFill/>
        </p:spPr>
        <p:txBody>
          <a:bodyPr wrap="none">
            <a:spAutoFit/>
          </a:bodyPr>
          <a:lstStyle/>
          <a:p>
            <a:r>
              <a:rPr sz="2800"/>
              <a:t>Take-home tips 6 through 10: safety, recovery, and scale</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Wire Model Context Protocol servers read-only first, promoting to read-write only for deliberate steps, and keep the sandbox on with deliberate approvals.</a:t>
            </a:r>
          </a:p>
          <a:p>
            <a:pPr>
              <a:spcAft>
                <a:spcPts val="1200"/>
              </a:spcAft>
            </a:pPr>
            <a:r>
              <a:rPr sz="1800"/>
              <a:t>Recover with /sessions plus /rewind instead of retyping lost work, and fan out with the workflow tool under an evidence contract.</a:t>
            </a:r>
          </a:p>
          <a:p>
            <a:pPr>
              <a:spcAft>
                <a:spcPts val="1200"/>
              </a:spcAft>
            </a:pPr>
            <a:r>
              <a:rPr sz="1800"/>
              <a:t>Embed via the Spark API backed locally by Glimmer, and set spend limits on day one with the graphics lock guarding every GPU job.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2A"/>
        </a:solidFill>
        <a:effectLst/>
      </p:bgPr>
    </p:bg>
    <p:spTree>
      <p:nvGrpSpPr>
        <p:cNvPr id="1" name=""/>
        <p:cNvGrpSpPr/>
        <p:nvPr/>
      </p:nvGrpSpPr>
      <p:grpSpPr/>
      <p:sp>
        <p:nvSpPr>
          <p:cNvPr id="2" name="Rectangle 1"/>
          <p:cNvSpPr/>
          <p:nvPr/>
        </p:nvSpPr>
        <p:spPr>
          <a:xfrm>
            <a:off x="0" y="0"/>
            <a:ext cx="12191695" cy="76200"/>
          </a:xfrm>
          <a:prstGeom prst="rect">
            <a:avLst/>
          </a:prstGeom>
          <a:solidFill>
            <a:srgbClr val="000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dn-accent-bar"/>
          <p:cNvSpPr/>
          <p:nvPr/>
        </p:nvSpPr>
        <p:spPr>
          <a:xfrm>
            <a:off x="0" y="0"/>
            <a:ext cx="127000" cy="6858000"/>
          </a:xfrm>
          <a:prstGeom prst="rect">
            <a:avLst/>
          </a:prstGeom>
          <a:solidFill>
            <a:srgbClr val="906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309360"/>
            <a:ext cx="548640" cy="304800"/>
          </a:xfrm>
          <a:prstGeom prst="rect">
            <a:avLst/>
          </a:prstGeom>
          <a:noFill/>
        </p:spPr>
        <p:txBody>
          <a:bodyPr wrap="none">
            <a:spAutoFit/>
          </a:bodyPr>
          <a:lstStyle/>
          <a:p>
            <a:pPr algn="r"/>
            <a:r>
              <a:rPr sz="1200">
                <a:solidFill>
                  <a:srgbClr val="C9A23F"/>
                </a:solidFill>
                <a:latin typeface="Calibri"/>
              </a:rPr>
              <a:t>17</a:t>
            </a:r>
          </a:p>
        </p:txBody>
      </p:sp>
      <p:sp>
        <p:nvSpPr>
          <p:cNvPr id="5" name="TextBox 4"/>
          <p:cNvSpPr txBox="1"/>
          <p:nvPr/>
        </p:nvSpPr>
        <p:spPr>
          <a:xfrm>
            <a:off x="640080" y="457200"/>
            <a:ext cx="10881360" cy="822960"/>
          </a:xfrm>
          <a:prstGeom prst="rect">
            <a:avLst/>
          </a:prstGeom>
          <a:noFill/>
        </p:spPr>
        <p:txBody>
          <a:bodyPr wrap="none">
            <a:spAutoFit/>
          </a:bodyPr>
          <a:lstStyle/>
          <a:p>
            <a:r>
              <a:rPr sz="2800"/>
              <a:t>Close: the competition is the vehicle, Muse Code is the instrument</a:t>
            </a:r>
          </a:p>
        </p:txBody>
      </p:sp>
      <p:sp>
        <p:nvSpPr>
          <p:cNvPr id="6" name="TextBox 5"/>
          <p:cNvSpPr txBox="1"/>
          <p:nvPr/>
        </p:nvSpPr>
        <p:spPr>
          <a:xfrm>
            <a:off x="640080" y="1554480"/>
            <a:ext cx="10881360" cy="4389120"/>
          </a:xfrm>
          <a:prstGeom prst="rect">
            <a:avLst/>
          </a:prstGeom>
          <a:noFill/>
        </p:spPr>
        <p:txBody>
          <a:bodyPr wrap="none">
            <a:spAutoFit/>
          </a:bodyPr>
          <a:lstStyle/>
          <a:p>
            <a:pPr>
              <a:spcAft>
                <a:spcPts val="1200"/>
              </a:spcAft>
            </a:pPr>
            <a:r>
              <a:rPr sz="1800"/>
              <a:t>The bowl repository ships docs, samples, scripts, and skills, and the companion guide carries README sections 0 through 130, so a stranger clones and runs within minutes.</a:t>
            </a:r>
          </a:p>
          <a:p>
            <a:pPr>
              <a:spcAft>
                <a:spcPts val="1200"/>
              </a:spcAft>
            </a:pPr>
            <a:r>
              <a:rPr sz="1800"/>
              <a:t>The day-one play is fixed: data downloads while baselines re-run from frozen configs.</a:t>
            </a:r>
          </a:p>
          <a:p>
            <a:pPr>
              <a:spcAft>
                <a:spcPts val="1200"/>
              </a:spcAft>
            </a:pPr>
            <a:r>
              <a:rPr sz="1800"/>
              <a:t>Start tonight with uv run python scripts/explore_sample.py --data samples/2024, and the field plot is your first proof.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